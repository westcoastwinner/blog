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284" r:id="rId4"/>
    <p:sldId id="276" r:id="rId5"/>
    <p:sldId id="277" r:id="rId6"/>
    <p:sldId id="292" r:id="rId7"/>
    <p:sldId id="286" r:id="rId8"/>
    <p:sldId id="289" r:id="rId9"/>
    <p:sldId id="293" r:id="rId10"/>
    <p:sldId id="295" r:id="rId11"/>
    <p:sldId id="296" r:id="rId12"/>
    <p:sldId id="298" r:id="rId13"/>
    <p:sldId id="300" r:id="rId14"/>
    <p:sldId id="299" r:id="rId15"/>
    <p:sldId id="301" r:id="rId16"/>
    <p:sldId id="302" r:id="rId17"/>
    <p:sldId id="285" r:id="rId18"/>
    <p:sldId id="278" r:id="rId19"/>
    <p:sldId id="28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85402"/>
    <a:srgbClr val="CA6F02"/>
    <a:srgbClr val="D184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5" autoAdjust="0"/>
    <p:restoredTop sz="94680" autoAdjust="0"/>
  </p:normalViewPr>
  <p:slideViewPr>
    <p:cSldViewPr snapToGrid="0">
      <p:cViewPr varScale="1">
        <p:scale>
          <a:sx n="163" d="100"/>
          <a:sy n="163" d="100"/>
        </p:scale>
        <p:origin x="716"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E96E1-346F-477A-9CFD-97562368FF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499FE-432E-4C91-A380-102EEE5AAE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userDrawn="1"/>
        </p:nvSpPr>
        <p:spPr>
          <a:xfrm>
            <a:off x="332509" y="-3175"/>
            <a:ext cx="923266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userDrawn="1"/>
        </p:nvSpPr>
        <p:spPr>
          <a:xfrm>
            <a:off x="122849" y="-3175"/>
            <a:ext cx="9232669"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nvPr>
        </p:nvSpPr>
        <p:spPr>
          <a:xfrm>
            <a:off x="1444215" y="1426996"/>
            <a:ext cx="7196667" cy="1110758"/>
          </a:xfrm>
        </p:spPr>
        <p:txBody>
          <a:bodyPr anchor="b">
            <a:normAutofit/>
          </a:bodyPr>
          <a:lstStyle>
            <a:lvl1pPr algn="l">
              <a:defRPr sz="5400" b="1">
                <a:solidFill>
                  <a:schemeClr val="tx2"/>
                </a:solidFill>
              </a:defRPr>
            </a:lvl1pPr>
          </a:lstStyle>
          <a:p>
            <a:r>
              <a:rPr lang="zh-CN" altLang="en-US" dirty="0" smtClean="0"/>
              <a:t>单行标题</a:t>
            </a:r>
            <a:r>
              <a:rPr lang="en-US" altLang="zh-CN" dirty="0" smtClean="0"/>
              <a:t>-</a:t>
            </a:r>
            <a:r>
              <a:rPr lang="zh-CN" altLang="en-US" dirty="0" smtClean="0"/>
              <a:t>单击编辑</a:t>
            </a:r>
            <a:endParaRPr lang="zh-CN" altLang="en-US" dirty="0"/>
          </a:p>
        </p:txBody>
      </p:sp>
      <p:sp>
        <p:nvSpPr>
          <p:cNvPr id="3" name="副标题 2"/>
          <p:cNvSpPr>
            <a:spLocks noGrp="1"/>
          </p:cNvSpPr>
          <p:nvPr>
            <p:ph type="subTitle" idx="1" hasCustomPrompt="1"/>
          </p:nvPr>
        </p:nvSpPr>
        <p:spPr>
          <a:xfrm>
            <a:off x="1444216" y="2639029"/>
            <a:ext cx="7196667"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单击编辑副标题</a:t>
            </a:r>
            <a:endParaRPr lang="zh-CN" altLang="en-US" dirty="0"/>
          </a:p>
        </p:txBody>
      </p:sp>
      <p:sp>
        <p:nvSpPr>
          <p:cNvPr id="72" name="任意多边形 71"/>
          <p:cNvSpPr/>
          <p:nvPr userDrawn="1"/>
        </p:nvSpPr>
        <p:spPr>
          <a:xfrm>
            <a:off x="0" y="1531610"/>
            <a:ext cx="1133862"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3" name="任意多边形 72"/>
          <p:cNvSpPr/>
          <p:nvPr userDrawn="1"/>
        </p:nvSpPr>
        <p:spPr>
          <a:xfrm>
            <a:off x="0" y="1426996"/>
            <a:ext cx="997527"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4" name="任意多边形 73"/>
          <p:cNvSpPr/>
          <p:nvPr userDrawn="1"/>
        </p:nvSpPr>
        <p:spPr>
          <a:xfrm>
            <a:off x="7414943" y="5505963"/>
            <a:ext cx="4777057"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5" name="任意多边形 74"/>
          <p:cNvSpPr/>
          <p:nvPr userDrawn="1"/>
        </p:nvSpPr>
        <p:spPr>
          <a:xfrm>
            <a:off x="7621131" y="5393904"/>
            <a:ext cx="4570869"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grpSp>
        <p:nvGrpSpPr>
          <p:cNvPr id="76" name="组合 75"/>
          <p:cNvGrpSpPr/>
          <p:nvPr userDrawn="1"/>
        </p:nvGrpSpPr>
        <p:grpSpPr>
          <a:xfrm>
            <a:off x="8369141" y="5633721"/>
            <a:ext cx="3326956" cy="561646"/>
            <a:chOff x="8729742" y="4570696"/>
            <a:chExt cx="2830517" cy="477836"/>
          </a:xfrm>
          <a:solidFill>
            <a:schemeClr val="bg2">
              <a:alpha val="50000"/>
            </a:schemeClr>
          </a:solidFill>
        </p:grpSpPr>
        <p:sp>
          <p:nvSpPr>
            <p:cNvPr id="77"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userDrawn="1"/>
        </p:nvSpPr>
        <p:spPr>
          <a:xfrm>
            <a:off x="332509" y="-3175"/>
            <a:ext cx="923266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userDrawn="1"/>
        </p:nvSpPr>
        <p:spPr>
          <a:xfrm>
            <a:off x="121920" y="-3175"/>
            <a:ext cx="9232669"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userDrawn="1"/>
        </p:nvSpPr>
        <p:spPr>
          <a:xfrm>
            <a:off x="0" y="1531610"/>
            <a:ext cx="1133862"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5" name="任意多边形 34"/>
          <p:cNvSpPr/>
          <p:nvPr userDrawn="1"/>
        </p:nvSpPr>
        <p:spPr>
          <a:xfrm>
            <a:off x="0" y="1426996"/>
            <a:ext cx="997527"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任意多边形 40"/>
          <p:cNvSpPr/>
          <p:nvPr userDrawn="1"/>
        </p:nvSpPr>
        <p:spPr>
          <a:xfrm>
            <a:off x="7414943" y="5505963"/>
            <a:ext cx="4777057"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9" name="任意多边形 38"/>
          <p:cNvSpPr/>
          <p:nvPr userDrawn="1"/>
        </p:nvSpPr>
        <p:spPr>
          <a:xfrm>
            <a:off x="7621131" y="5393904"/>
            <a:ext cx="4570869"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2" name="标题 1"/>
          <p:cNvSpPr>
            <a:spLocks noGrp="1"/>
          </p:cNvSpPr>
          <p:nvPr>
            <p:ph type="ctrTitle" hasCustomPrompt="1"/>
          </p:nvPr>
        </p:nvSpPr>
        <p:spPr>
          <a:xfrm>
            <a:off x="1524000" y="1426995"/>
            <a:ext cx="7196667" cy="1738535"/>
          </a:xfrm>
        </p:spPr>
        <p:txBody>
          <a:bodyPr anchor="b"/>
          <a:lstStyle>
            <a:lvl1pPr algn="l">
              <a:defRPr sz="6000" b="1">
                <a:solidFill>
                  <a:schemeClr val="tx2"/>
                </a:solidFill>
              </a:defRPr>
            </a:lvl1pPr>
          </a:lstStyle>
          <a:p>
            <a:r>
              <a:rPr lang="zh-CN" altLang="en-US" dirty="0" smtClean="0"/>
              <a:t>多行标题 </a:t>
            </a:r>
            <a:r>
              <a:rPr lang="en-US" altLang="zh-CN" dirty="0" smtClean="0"/>
              <a:t>- </a:t>
            </a:r>
            <a:r>
              <a:rPr lang="zh-CN" altLang="en-US" dirty="0" smtClean="0"/>
              <a:t>单击此处编辑母版标题样式</a:t>
            </a:r>
            <a:endParaRPr lang="zh-CN" altLang="en-US" dirty="0"/>
          </a:p>
        </p:txBody>
      </p:sp>
      <p:sp>
        <p:nvSpPr>
          <p:cNvPr id="3" name="副标题 2"/>
          <p:cNvSpPr>
            <a:spLocks noGrp="1"/>
          </p:cNvSpPr>
          <p:nvPr>
            <p:ph type="subTitle" idx="1" hasCustomPrompt="1"/>
          </p:nvPr>
        </p:nvSpPr>
        <p:spPr>
          <a:xfrm>
            <a:off x="1524000" y="3165530"/>
            <a:ext cx="7196667" cy="957737"/>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单击以编辑副标题</a:t>
            </a:r>
            <a:endParaRPr lang="zh-CN" altLang="en-US" dirty="0"/>
          </a:p>
        </p:txBody>
      </p:sp>
      <p:grpSp>
        <p:nvGrpSpPr>
          <p:cNvPr id="34" name="组合 33"/>
          <p:cNvGrpSpPr/>
          <p:nvPr userDrawn="1"/>
        </p:nvGrpSpPr>
        <p:grpSpPr>
          <a:xfrm>
            <a:off x="8369141" y="5633721"/>
            <a:ext cx="3326956"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0"/>
            <a:ext cx="12192000" cy="6861175"/>
          </a:xfrm>
          <a:prstGeom prst="rect">
            <a:avLst/>
          </a:prstGeom>
          <a:blipFill dpi="0" rotWithShape="1">
            <a:blip r:embed="rId2">
              <a:alphaModFix amt="10000"/>
            </a:blip>
            <a:srcRect/>
            <a:stretch>
              <a:fillRect l="-65111" t="-46" r="65111" b="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userDrawn="1"/>
        </p:nvSpPr>
        <p:spPr>
          <a:xfrm>
            <a:off x="3515360" y="-7017"/>
            <a:ext cx="8546252"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userDrawn="1"/>
        </p:nvSpPr>
        <p:spPr>
          <a:xfrm>
            <a:off x="3679375" y="-7017"/>
            <a:ext cx="8546252"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6" name="任意多边形 75"/>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2" name="任意多边形 71"/>
          <p:cNvSpPr/>
          <p:nvPr userDrawn="1"/>
        </p:nvSpPr>
        <p:spPr>
          <a:xfrm>
            <a:off x="0" y="1479303"/>
            <a:ext cx="3351345" cy="104037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6" name="任意多边形 45"/>
          <p:cNvSpPr/>
          <p:nvPr userDrawn="1"/>
        </p:nvSpPr>
        <p:spPr>
          <a:xfrm>
            <a:off x="0" y="1376196"/>
            <a:ext cx="3112008" cy="1050059"/>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标题 1"/>
          <p:cNvSpPr>
            <a:spLocks noGrp="1"/>
          </p:cNvSpPr>
          <p:nvPr>
            <p:ph type="title" hasCustomPrompt="1"/>
          </p:nvPr>
        </p:nvSpPr>
        <p:spPr>
          <a:xfrm>
            <a:off x="1" y="1376196"/>
            <a:ext cx="2861352" cy="1050059"/>
          </a:xfrm>
        </p:spPr>
        <p:txBody>
          <a:bodyPr anchor="ctr">
            <a:normAutofit/>
          </a:bodyPr>
          <a:lstStyle>
            <a:lvl1pPr algn="r">
              <a:defRPr sz="4400" b="1">
                <a:solidFill>
                  <a:schemeClr val="accent3"/>
                </a:solidFill>
              </a:defRPr>
            </a:lvl1pPr>
          </a:lstStyle>
          <a:p>
            <a:r>
              <a:rPr lang="zh-CN" altLang="en-US" dirty="0" smtClean="0"/>
              <a:t>目录</a:t>
            </a:r>
            <a:endParaRPr lang="zh-CN" altLang="en-US" dirty="0"/>
          </a:p>
        </p:txBody>
      </p:sp>
      <p:sp>
        <p:nvSpPr>
          <p:cNvPr id="7" name="灯片编号占位符 6"/>
          <p:cNvSpPr>
            <a:spLocks noGrp="1"/>
          </p:cNvSpPr>
          <p:nvPr>
            <p:ph type="sldNum" sz="quarter" idx="12"/>
          </p:nvPr>
        </p:nvSpPr>
        <p:spPr/>
        <p:txBody>
          <a:bodyPr/>
          <a:lstStyle/>
          <a:p>
            <a:fld id="{27C45CD9-0508-4D1E-923D-4DFDAA610D19}" type="slidenum">
              <a:rPr lang="zh-CN" altLang="en-US" smtClean="0"/>
            </a:fld>
            <a:endParaRPr lang="zh-CN" altLang="en-US" dirty="0"/>
          </a:p>
        </p:txBody>
      </p:sp>
      <p:sp>
        <p:nvSpPr>
          <p:cNvPr id="5" name="内容占位符 4"/>
          <p:cNvSpPr>
            <a:spLocks noGrp="1"/>
          </p:cNvSpPr>
          <p:nvPr>
            <p:ph sz="quarter" idx="13" hasCustomPrompt="1"/>
          </p:nvPr>
        </p:nvSpPr>
        <p:spPr>
          <a:xfrm>
            <a:off x="4745168" y="1487414"/>
            <a:ext cx="6605587" cy="4343400"/>
          </a:xfrm>
        </p:spPr>
        <p:txBody>
          <a:bodyPr>
            <a:normAutofit/>
          </a:bodyPr>
          <a:lstStyle>
            <a:lvl1pPr marL="571500" indent="-571500">
              <a:lnSpc>
                <a:spcPct val="120000"/>
              </a:lnSpc>
              <a:buClr>
                <a:schemeClr val="accent2"/>
              </a:buClr>
              <a:buSzPct val="75000"/>
              <a:buFont typeface="Wingdings" panose="05000000000000000000" pitchFamily="2" charset="2"/>
              <a:buChar char="n"/>
              <a:defRPr sz="4000"/>
            </a:lvl1pPr>
            <a:lvl2pPr>
              <a:defRPr sz="3200"/>
            </a:lvl2pPr>
          </a:lstStyle>
          <a:p>
            <a:pPr lvl="0"/>
            <a:r>
              <a:rPr lang="zh-CN" altLang="en-US" dirty="0" smtClean="0"/>
              <a:t>编辑母版文本样式</a:t>
            </a:r>
            <a:endParaRPr lang="en-US" altLang="zh-CN"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7"/>
            <a:ext cx="12192000" cy="6861175"/>
          </a:xfrm>
          <a:prstGeom prst="rect">
            <a:avLst/>
          </a:prstGeom>
          <a:blipFill dpi="0" rotWithShape="1">
            <a:blip r:embed="rId2">
              <a:alphaModFix amt="10000"/>
            </a:blip>
            <a:srcRect/>
            <a:stretch>
              <a:fillRect l="-69930" r="699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userDrawn="1"/>
        </p:nvSpPr>
        <p:spPr>
          <a:xfrm>
            <a:off x="2191895" y="-7017"/>
            <a:ext cx="9869717"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userDrawn="1"/>
        </p:nvSpPr>
        <p:spPr>
          <a:xfrm>
            <a:off x="2355910" y="-7017"/>
            <a:ext cx="9869717"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6" name="任意多边形 75"/>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2" name="任意多边形 71"/>
          <p:cNvSpPr/>
          <p:nvPr userDrawn="1"/>
        </p:nvSpPr>
        <p:spPr>
          <a:xfrm>
            <a:off x="0" y="1479303"/>
            <a:ext cx="1724201" cy="125373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6" name="任意多边形 45"/>
          <p:cNvSpPr/>
          <p:nvPr userDrawn="1"/>
        </p:nvSpPr>
        <p:spPr>
          <a:xfrm>
            <a:off x="0" y="1376196"/>
            <a:ext cx="1523014" cy="1265404"/>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标题 1"/>
          <p:cNvSpPr>
            <a:spLocks noGrp="1"/>
          </p:cNvSpPr>
          <p:nvPr>
            <p:ph type="title" hasCustomPrompt="1"/>
          </p:nvPr>
        </p:nvSpPr>
        <p:spPr>
          <a:xfrm>
            <a:off x="3426832" y="1206856"/>
            <a:ext cx="8281907" cy="1152806"/>
          </a:xfrm>
        </p:spPr>
        <p:txBody>
          <a:bodyPr anchor="b"/>
          <a:lstStyle>
            <a:lvl1pPr>
              <a:defRPr sz="6000" b="1"/>
            </a:lvl1pPr>
          </a:lstStyle>
          <a:p>
            <a:r>
              <a:rPr lang="zh-CN" altLang="en-US" dirty="0" smtClean="0"/>
              <a:t>小节标题</a:t>
            </a:r>
            <a:endParaRPr lang="zh-CN" altLang="en-US" dirty="0"/>
          </a:p>
        </p:txBody>
      </p:sp>
      <p:sp>
        <p:nvSpPr>
          <p:cNvPr id="42" name="文本占位符 2"/>
          <p:cNvSpPr>
            <a:spLocks noGrp="1"/>
          </p:cNvSpPr>
          <p:nvPr>
            <p:ph type="body" idx="1" hasCustomPrompt="1"/>
          </p:nvPr>
        </p:nvSpPr>
        <p:spPr>
          <a:xfrm>
            <a:off x="3426832" y="2386651"/>
            <a:ext cx="8281907" cy="51377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小节副标题</a:t>
            </a:r>
            <a:endParaRPr lang="zh-CN" altLang="en-US" dirty="0" smtClean="0"/>
          </a:p>
        </p:txBody>
      </p:sp>
      <p:sp>
        <p:nvSpPr>
          <p:cNvPr id="10" name="文本占位符 9"/>
          <p:cNvSpPr>
            <a:spLocks noGrp="1"/>
          </p:cNvSpPr>
          <p:nvPr>
            <p:ph type="body" sz="quarter" idx="13" hasCustomPrompt="1"/>
          </p:nvPr>
        </p:nvSpPr>
        <p:spPr>
          <a:xfrm>
            <a:off x="0" y="1479303"/>
            <a:ext cx="1339403" cy="1049700"/>
          </a:xfrm>
        </p:spPr>
        <p:txBody>
          <a:bodyPr anchor="ctr">
            <a:noAutofit/>
          </a:bodyPr>
          <a:lstStyle>
            <a:lvl1pPr marL="0" indent="0" algn="ctr">
              <a:buNone/>
              <a:defRPr sz="7200" b="1">
                <a:solidFill>
                  <a:schemeClr val="accent3"/>
                </a:solidFill>
                <a:latin typeface="+mj-lt"/>
              </a:defRPr>
            </a:lvl1pPr>
          </a:lstStyle>
          <a:p>
            <a:pPr lvl="0"/>
            <a:r>
              <a:rPr lang="en-US" altLang="zh-CN" dirty="0" smtClean="0"/>
              <a:t>01</a:t>
            </a:r>
            <a:endParaRPr lang="zh-CN" altLang="en-US" dirty="0"/>
          </a:p>
        </p:txBody>
      </p:sp>
      <p:sp>
        <p:nvSpPr>
          <p:cNvPr id="7" name="灯片编号占位符 6"/>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2" name="标题 1"/>
          <p:cNvSpPr>
            <a:spLocks noGrp="1"/>
          </p:cNvSpPr>
          <p:nvPr>
            <p:ph type="title"/>
          </p:nvPr>
        </p:nvSpPr>
        <p:spPr>
          <a:xfrm>
            <a:off x="609600" y="264459"/>
            <a:ext cx="10744200" cy="665816"/>
          </a:xfrm>
        </p:spPr>
        <p:txBody>
          <a:bodyPr>
            <a:noAutofit/>
          </a:bodyPr>
          <a:lstStyle>
            <a:lvl1pPr>
              <a:defRPr sz="3600" b="1"/>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a:xfrm>
            <a:off x="609599" y="1227667"/>
            <a:ext cx="10741155" cy="4698999"/>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16" name="任意多边形 15"/>
          <p:cNvSpPr/>
          <p:nvPr userDrawn="1"/>
        </p:nvSpPr>
        <p:spPr>
          <a:xfrm>
            <a:off x="0" y="316846"/>
            <a:ext cx="366713" cy="613429"/>
          </a:xfrm>
          <a:custGeom>
            <a:avLst/>
            <a:gdLst>
              <a:gd name="connsiteX0" fmla="*/ 0 w 366713"/>
              <a:gd name="connsiteY0" fmla="*/ 0 h 613429"/>
              <a:gd name="connsiteX1" fmla="*/ 366713 w 366713"/>
              <a:gd name="connsiteY1" fmla="*/ 0 h 613429"/>
              <a:gd name="connsiteX2" fmla="*/ 315070 w 366713"/>
              <a:gd name="connsiteY2" fmla="*/ 613429 h 613429"/>
              <a:gd name="connsiteX3" fmla="*/ 0 w 36671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366713" h="613429">
                <a:moveTo>
                  <a:pt x="0" y="0"/>
                </a:moveTo>
                <a:lnTo>
                  <a:pt x="366713" y="0"/>
                </a:lnTo>
                <a:lnTo>
                  <a:pt x="315070" y="613429"/>
                </a:lnTo>
                <a:lnTo>
                  <a:pt x="0" y="6134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userDrawn="1"/>
        </p:nvSpPr>
        <p:spPr>
          <a:xfrm>
            <a:off x="0" y="264459"/>
            <a:ext cx="271463" cy="613429"/>
          </a:xfrm>
          <a:custGeom>
            <a:avLst/>
            <a:gdLst>
              <a:gd name="connsiteX0" fmla="*/ 0 w 271463"/>
              <a:gd name="connsiteY0" fmla="*/ 0 h 613429"/>
              <a:gd name="connsiteX1" fmla="*/ 271463 w 271463"/>
              <a:gd name="connsiteY1" fmla="*/ 0 h 613429"/>
              <a:gd name="connsiteX2" fmla="*/ 219820 w 271463"/>
              <a:gd name="connsiteY2" fmla="*/ 613429 h 613429"/>
              <a:gd name="connsiteX3" fmla="*/ 0 w 27146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271463" h="613429">
                <a:moveTo>
                  <a:pt x="0" y="0"/>
                </a:moveTo>
                <a:lnTo>
                  <a:pt x="271463" y="0"/>
                </a:lnTo>
                <a:lnTo>
                  <a:pt x="219820" y="613429"/>
                </a:lnTo>
                <a:lnTo>
                  <a:pt x="0" y="61342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 name="内容占位符 2"/>
          <p:cNvSpPr>
            <a:spLocks noGrp="1"/>
          </p:cNvSpPr>
          <p:nvPr>
            <p:ph idx="1" hasCustomPrompt="1"/>
          </p:nvPr>
        </p:nvSpPr>
        <p:spPr>
          <a:xfrm>
            <a:off x="609599" y="635001"/>
            <a:ext cx="10741155" cy="5291666"/>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注">
    <p:spTree>
      <p:nvGrpSpPr>
        <p:cNvPr id="1" name=""/>
        <p:cNvGrpSpPr/>
        <p:nvPr/>
      </p:nvGrpSpPr>
      <p:grpSpPr>
        <a:xfrm>
          <a:off x="0" y="0"/>
          <a:ext cx="0" cy="0"/>
          <a:chOff x="0" y="0"/>
          <a:chExt cx="0" cy="0"/>
        </a:xfrm>
      </p:grpSpPr>
      <p:sp>
        <p:nvSpPr>
          <p:cNvPr id="4" name="图片占位符 3"/>
          <p:cNvSpPr>
            <a:spLocks noGrp="1"/>
          </p:cNvSpPr>
          <p:nvPr>
            <p:ph type="pic" sz="quarter" idx="13"/>
          </p:nvPr>
        </p:nvSpPr>
        <p:spPr>
          <a:xfrm>
            <a:off x="304124" y="221381"/>
            <a:ext cx="10832305" cy="5833980"/>
          </a:xfrm>
        </p:spPr>
        <p:txBody>
          <a:bodyPr anchor="t"/>
          <a:lstStyle>
            <a:lvl1pPr algn="ctr">
              <a:defRPr/>
            </a:lvl1pPr>
          </a:lstStyle>
          <a:p>
            <a:endParaRPr lang="zh-CN" altLang="en-US" dirty="0"/>
          </a:p>
        </p:txBody>
      </p:sp>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4" hasCustomPrompt="1"/>
          </p:nvPr>
        </p:nvSpPr>
        <p:spPr>
          <a:xfrm>
            <a:off x="-22652" y="385562"/>
            <a:ext cx="1984107" cy="732848"/>
          </a:xfrm>
          <a:solidFill>
            <a:schemeClr val="accent1"/>
          </a:solidFill>
          <a:effectLst>
            <a:outerShdw dist="127000" dir="2040000" algn="ctr" rotWithShape="0">
              <a:schemeClr val="accent2"/>
            </a:outerShdw>
          </a:effectLst>
        </p:spPr>
        <p:txBody>
          <a:bodyPr wrap="square" lIns="180000" tIns="180000" rIns="180000" bIns="180000">
            <a:spAutoFit/>
          </a:bodyPr>
          <a:lstStyle>
            <a:lvl1pPr marL="0" indent="0" algn="r">
              <a:lnSpc>
                <a:spcPct val="100000"/>
              </a:lnSpc>
              <a:buNone/>
              <a:defRPr sz="2400">
                <a:solidFill>
                  <a:schemeClr val="bg2"/>
                </a:solidFill>
                <a:effectLst/>
              </a:defRPr>
            </a:lvl1pPr>
          </a:lstStyle>
          <a:p>
            <a:pPr lvl="0"/>
            <a:r>
              <a:rPr lang="zh-CN" altLang="en-US" dirty="0" smtClean="0"/>
              <a:t>图片说明</a:t>
            </a:r>
            <a:endParaRPr lang="zh-CN" altLang="en-US" dirty="0"/>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空白-深色">
    <p:bg>
      <p:bgPr>
        <a:solidFill>
          <a:schemeClr val="accent1"/>
        </a:solidFill>
        <a:effectLst/>
      </p:bgPr>
    </p:bg>
    <p:spTree>
      <p:nvGrpSpPr>
        <p:cNvPr id="1" name=""/>
        <p:cNvGrpSpPr/>
        <p:nvPr/>
      </p:nvGrpSpPr>
      <p:grpSpPr>
        <a:xfrm>
          <a:off x="0" y="0"/>
          <a:ext cx="0" cy="0"/>
          <a:chOff x="0" y="0"/>
          <a:chExt cx="0" cy="0"/>
        </a:xfrm>
      </p:grpSpPr>
      <p:sp>
        <p:nvSpPr>
          <p:cNvPr id="2" name="矩形 1"/>
          <p:cNvSpPr/>
          <p:nvPr userDrawn="1"/>
        </p:nvSpPr>
        <p:spPr>
          <a:xfrm>
            <a:off x="0" y="-3175"/>
            <a:ext cx="12192000" cy="6861175"/>
          </a:xfrm>
          <a:prstGeom prst="rect">
            <a:avLst/>
          </a:prstGeom>
          <a:blipFill dpi="0" rotWithShape="1">
            <a:blip r:embed="rId2">
              <a:alphaModFix amt="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hasCustomPrompt="1"/>
          </p:nvPr>
        </p:nvSpPr>
        <p:spPr>
          <a:xfrm>
            <a:off x="725422" y="781579"/>
            <a:ext cx="10741155" cy="529166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accent1"/>
        </a:solidFill>
        <a:effectLst/>
      </p:bgPr>
    </p:bg>
    <p:spTree>
      <p:nvGrpSpPr>
        <p:cNvPr id="1" name=""/>
        <p:cNvGrpSpPr/>
        <p:nvPr/>
      </p:nvGrpSpPr>
      <p:grpSpPr>
        <a:xfrm>
          <a:off x="0" y="0"/>
          <a:ext cx="0" cy="0"/>
          <a:chOff x="0" y="0"/>
          <a:chExt cx="0" cy="0"/>
        </a:xfrm>
      </p:grpSpPr>
      <p:sp>
        <p:nvSpPr>
          <p:cNvPr id="9" name="矩形 8"/>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userDrawn="1"/>
        </p:nvSpPr>
        <p:spPr>
          <a:xfrm>
            <a:off x="0" y="-3175"/>
            <a:ext cx="8574578" cy="6861175"/>
          </a:xfrm>
          <a:custGeom>
            <a:avLst/>
            <a:gdLst>
              <a:gd name="connsiteX0" fmla="*/ 63979 w 8574578"/>
              <a:gd name="connsiteY0" fmla="*/ 0 h 6861175"/>
              <a:gd name="connsiteX1" fmla="*/ 8574578 w 8574578"/>
              <a:gd name="connsiteY1" fmla="*/ 0 h 6861175"/>
              <a:gd name="connsiteX2" fmla="*/ 7852508 w 8574578"/>
              <a:gd name="connsiteY2" fmla="*/ 6861175 h 6861175"/>
              <a:gd name="connsiteX3" fmla="*/ 0 w 8574578"/>
              <a:gd name="connsiteY3" fmla="*/ 6861175 h 6861175"/>
              <a:gd name="connsiteX4" fmla="*/ 0 w 8574578"/>
              <a:gd name="connsiteY4" fmla="*/ 607935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578" h="6861175">
                <a:moveTo>
                  <a:pt x="63979" y="0"/>
                </a:moveTo>
                <a:lnTo>
                  <a:pt x="8574578" y="0"/>
                </a:lnTo>
                <a:lnTo>
                  <a:pt x="7852508" y="6861175"/>
                </a:lnTo>
                <a:lnTo>
                  <a:pt x="0" y="6861175"/>
                </a:lnTo>
                <a:lnTo>
                  <a:pt x="0" y="60793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userDrawn="1"/>
        </p:nvSpPr>
        <p:spPr>
          <a:xfrm>
            <a:off x="0" y="-3175"/>
            <a:ext cx="8363989" cy="6861175"/>
          </a:xfrm>
          <a:custGeom>
            <a:avLst/>
            <a:gdLst>
              <a:gd name="connsiteX0" fmla="*/ 0 w 8363989"/>
              <a:gd name="connsiteY0" fmla="*/ 0 h 6861175"/>
              <a:gd name="connsiteX1" fmla="*/ 8363989 w 8363989"/>
              <a:gd name="connsiteY1" fmla="*/ 0 h 6861175"/>
              <a:gd name="connsiteX2" fmla="*/ 7641919 w 8363989"/>
              <a:gd name="connsiteY2" fmla="*/ 6861175 h 6861175"/>
              <a:gd name="connsiteX3" fmla="*/ 0 w 836398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8363989" h="6861175">
                <a:moveTo>
                  <a:pt x="0" y="0"/>
                </a:moveTo>
                <a:lnTo>
                  <a:pt x="8363989" y="0"/>
                </a:lnTo>
                <a:lnTo>
                  <a:pt x="7641919" y="6861175"/>
                </a:lnTo>
                <a:lnTo>
                  <a:pt x="0" y="68611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hasCustomPrompt="1"/>
          </p:nvPr>
        </p:nvSpPr>
        <p:spPr>
          <a:xfrm>
            <a:off x="914400" y="2066925"/>
            <a:ext cx="6688667" cy="1325563"/>
          </a:xfrm>
        </p:spPr>
        <p:txBody>
          <a:bodyPr>
            <a:normAutofit/>
          </a:bodyPr>
          <a:lstStyle>
            <a:lvl1pPr>
              <a:defRPr sz="8800" b="1"/>
            </a:lvl1pPr>
          </a:lstStyle>
          <a:p>
            <a:r>
              <a:rPr lang="zh-CN" altLang="en-US" dirty="0" smtClean="0"/>
              <a:t>结束语</a:t>
            </a:r>
            <a:endParaRPr lang="zh-CN" altLang="en-US" dirty="0"/>
          </a:p>
        </p:txBody>
      </p:sp>
      <p:sp>
        <p:nvSpPr>
          <p:cNvPr id="6" name="副标题 2"/>
          <p:cNvSpPr>
            <a:spLocks noGrp="1"/>
          </p:cNvSpPr>
          <p:nvPr>
            <p:ph type="subTitle" idx="1" hasCustomPrompt="1"/>
          </p:nvPr>
        </p:nvSpPr>
        <p:spPr>
          <a:xfrm>
            <a:off x="914400" y="3547533"/>
            <a:ext cx="6688667" cy="1422399"/>
          </a:xfrm>
        </p:spPr>
        <p:txBody>
          <a:bodyPr>
            <a:normAutofit/>
          </a:bodyPr>
          <a:lstStyle>
            <a:lvl1pPr marL="0" indent="0" algn="l">
              <a:buNone/>
              <a:defRPr sz="3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单击以编辑副标题</a:t>
            </a:r>
            <a:endParaRPr lang="zh-CN" altLang="en-US" dirty="0"/>
          </a:p>
        </p:txBody>
      </p:sp>
      <p:grpSp>
        <p:nvGrpSpPr>
          <p:cNvPr id="33" name="组合 32"/>
          <p:cNvGrpSpPr/>
          <p:nvPr userDrawn="1"/>
        </p:nvGrpSpPr>
        <p:grpSpPr>
          <a:xfrm>
            <a:off x="9392920" y="6168231"/>
            <a:ext cx="2447720" cy="413216"/>
            <a:chOff x="8729742" y="4570696"/>
            <a:chExt cx="2830517" cy="477836"/>
          </a:xfrm>
          <a:solidFill>
            <a:schemeClr val="bg2">
              <a:alpha val="50000"/>
            </a:schemeClr>
          </a:solidFill>
        </p:grpSpPr>
        <p:sp>
          <p:nvSpPr>
            <p:cNvPr id="34"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4"/>
          </p:nvPr>
        </p:nvSpPr>
        <p:spPr>
          <a:xfrm>
            <a:off x="11573932" y="6055360"/>
            <a:ext cx="546947" cy="548639"/>
          </a:xfrm>
          <a:prstGeom prst="rect">
            <a:avLst/>
          </a:prstGeom>
        </p:spPr>
        <p:txBody>
          <a:bodyPr vert="horz" lIns="91440" tIns="45720" rIns="91440" bIns="45720" rtlCol="0" anchor="ctr"/>
          <a:lstStyle>
            <a:lvl1pPr algn="ctr">
              <a:defRPr sz="2800" b="1">
                <a:solidFill>
                  <a:schemeClr val="accent3"/>
                </a:solidFill>
                <a:latin typeface="+mn-lt"/>
              </a:defRPr>
            </a:lvl1pPr>
          </a:lstStyle>
          <a:p>
            <a:fld id="{27C45CD9-0508-4D1E-923D-4DFDAA610D19}"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t>中期答辩</a:t>
            </a:r>
            <a:endParaRPr lang="zh-CN" altLang="en-US" dirty="0"/>
          </a:p>
        </p:txBody>
      </p:sp>
      <p:sp>
        <p:nvSpPr>
          <p:cNvPr id="5" name="副标题 4"/>
          <p:cNvSpPr>
            <a:spLocks noGrp="1"/>
          </p:cNvSpPr>
          <p:nvPr>
            <p:ph type="subTitle" idx="1"/>
          </p:nvPr>
        </p:nvSpPr>
        <p:spPr/>
        <p:txBody>
          <a:bodyPr/>
          <a:lstStyle/>
          <a:p>
            <a:r>
              <a:rPr lang="zh-CN" altLang="en-US" dirty="0" smtClean="0">
                <a:latin typeface="微软雅黑" panose="020B0503020204020204" charset="-122"/>
                <a:ea typeface="微软雅黑" panose="020B0503020204020204" charset="-122"/>
                <a:cs typeface="微软雅黑" panose="020B0503020204020204" charset="-122"/>
              </a:rPr>
              <a:t>秦天</a:t>
            </a:r>
            <a:r>
              <a:rPr lang="en-US" altLang="zh-CN" dirty="0" smtClean="0">
                <a:latin typeface="微软雅黑" panose="020B0503020204020204" charset="-122"/>
                <a:ea typeface="微软雅黑" panose="020B0503020204020204" charset="-122"/>
                <a:cs typeface="微软雅黑" panose="020B0503020204020204" charset="-122"/>
              </a:rPr>
              <a:t> SA24225290</a:t>
            </a:r>
            <a:r>
              <a:rPr lang="zh-CN" altLang="en-US" dirty="0" smtClean="0">
                <a:latin typeface="微软雅黑" panose="020B0503020204020204" charset="-122"/>
                <a:ea typeface="微软雅黑" panose="020B0503020204020204" charset="-122"/>
                <a:cs typeface="微软雅黑" panose="020B0503020204020204" charset="-122"/>
              </a:rPr>
              <a:t> </a:t>
            </a:r>
            <a:endParaRPr lang="zh-CN" altLang="en-US"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主要议程</a:t>
            </a:r>
            <a:endParaRPr lang="zh-CN" altLang="en-US" dirty="0"/>
          </a:p>
        </p:txBody>
      </p:sp>
      <p:sp>
        <p:nvSpPr>
          <p:cNvPr id="3" name="灯片编号占位符 2"/>
          <p:cNvSpPr>
            <a:spLocks noGrp="1"/>
          </p:cNvSpPr>
          <p:nvPr>
            <p:ph type="sldNum" sz="quarter" idx="12"/>
          </p:nvPr>
        </p:nvSpPr>
        <p:spPr/>
        <p:txBody>
          <a:bodyPr/>
          <a:lstStyle/>
          <a:p>
            <a:fld id="{27C45CD9-0508-4D1E-923D-4DFDAA610D19}" type="slidenum">
              <a:rPr lang="zh-CN" altLang="en-US" smtClean="0"/>
            </a:fld>
            <a:endParaRPr lang="zh-CN" altLang="en-US" dirty="0"/>
          </a:p>
        </p:txBody>
      </p:sp>
      <p:sp>
        <p:nvSpPr>
          <p:cNvPr id="4" name="内容占位符 3"/>
          <p:cNvSpPr>
            <a:spLocks noGrp="1"/>
          </p:cNvSpPr>
          <p:nvPr>
            <p:ph sz="quarter" idx="13"/>
          </p:nvPr>
        </p:nvSpPr>
        <p:spPr/>
        <p:txBody>
          <a:bodyPr/>
          <a:lstStyle/>
          <a:p>
            <a:r>
              <a:rPr lang="zh-CN" altLang="en-US" dirty="0" smtClean="0"/>
              <a:t>实习情况</a:t>
            </a:r>
            <a:endParaRPr lang="en-US" altLang="zh-CN" dirty="0" smtClean="0"/>
          </a:p>
          <a:p>
            <a:r>
              <a:rPr lang="zh-CN" altLang="en-US" dirty="0" smtClean="0"/>
              <a:t>论文进展情况</a:t>
            </a:r>
            <a:endParaRPr lang="zh-CN" altLang="en-US" dirty="0" smtClean="0"/>
          </a:p>
          <a:p>
            <a:r>
              <a:rPr lang="zh-CN" altLang="en-US" dirty="0"/>
              <a:t>实习收获</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实习情况</a:t>
            </a:r>
            <a:endParaRPr lang="zh-CN" altLang="en-US" dirty="0"/>
          </a:p>
        </p:txBody>
      </p:sp>
      <p:sp>
        <p:nvSpPr>
          <p:cNvPr id="3" name="文本占位符 2"/>
          <p:cNvSpPr>
            <a:spLocks noGrp="1"/>
          </p:cNvSpPr>
          <p:nvPr>
            <p:ph type="body" idx="1"/>
          </p:nvPr>
        </p:nvSpPr>
        <p:spPr>
          <a:xfrm>
            <a:off x="3427095" y="2386965"/>
            <a:ext cx="8281670" cy="1408430"/>
          </a:xfrm>
        </p:spPr>
        <p:txBody>
          <a:bodyPr>
            <a:noAutofit/>
          </a:bodyPr>
          <a:lstStyle/>
          <a:p>
            <a:r>
              <a:rPr lang="en-US" altLang="zh-CN" sz="2300" dirty="0" smtClean="0">
                <a:solidFill>
                  <a:schemeClr val="tx1"/>
                </a:solidFill>
              </a:rPr>
              <a:t>*</a:t>
            </a:r>
            <a:r>
              <a:rPr lang="zh-CN" altLang="en-US" sz="2300" dirty="0" smtClean="0">
                <a:solidFill>
                  <a:schemeClr val="tx1"/>
                </a:solidFill>
              </a:rPr>
              <a:t>公司介绍</a:t>
            </a:r>
            <a:endParaRPr lang="zh-CN" altLang="en-US" sz="2300" dirty="0" smtClean="0">
              <a:solidFill>
                <a:schemeClr val="tx1"/>
              </a:solidFill>
            </a:endParaRPr>
          </a:p>
          <a:p>
            <a:endParaRPr lang="zh-CN" altLang="en-US" sz="2300" dirty="0" smtClean="0">
              <a:solidFill>
                <a:schemeClr val="tx1"/>
              </a:solidFill>
            </a:endParaRPr>
          </a:p>
          <a:p>
            <a:r>
              <a:rPr lang="en-US" altLang="zh-CN" sz="2300" dirty="0" smtClean="0">
                <a:solidFill>
                  <a:schemeClr val="tx1"/>
                </a:solidFill>
              </a:rPr>
              <a:t>*</a:t>
            </a:r>
            <a:r>
              <a:rPr lang="zh-CN" altLang="en-US" sz="2300" dirty="0" smtClean="0">
                <a:solidFill>
                  <a:schemeClr val="tx1"/>
                </a:solidFill>
              </a:rPr>
              <a:t>实习工作介绍</a:t>
            </a:r>
            <a:endParaRPr lang="zh-CN" altLang="en-US" sz="2300" dirty="0" smtClean="0">
              <a:solidFill>
                <a:schemeClr val="tx1"/>
              </a:solidFill>
            </a:endParaRPr>
          </a:p>
        </p:txBody>
      </p:sp>
      <p:sp>
        <p:nvSpPr>
          <p:cNvPr id="9" name="文本占位符 8"/>
          <p:cNvSpPr>
            <a:spLocks noGrp="1"/>
          </p:cNvSpPr>
          <p:nvPr>
            <p:ph type="body" sz="quarter" idx="13"/>
          </p:nvPr>
        </p:nvSpPr>
        <p:spPr/>
        <p:txBody>
          <a:bodyPr/>
          <a:lstStyle/>
          <a:p>
            <a:endParaRPr lang="zh-CN" altLang="en-US"/>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企业介绍</a:t>
            </a:r>
            <a:endParaRPr lang="zh-CN" altLang="en-US" dirty="0"/>
          </a:p>
        </p:txBody>
      </p:sp>
      <p:sp>
        <p:nvSpPr>
          <p:cNvPr id="3" name="内容占位符 2"/>
          <p:cNvSpPr>
            <a:spLocks noGrp="1"/>
          </p:cNvSpPr>
          <p:nvPr>
            <p:ph idx="1"/>
          </p:nvPr>
        </p:nvSpPr>
        <p:spPr/>
        <p:txBody>
          <a:bodyPr>
            <a:normAutofit fontScale="90000"/>
          </a:bodyPr>
          <a:lstStyle/>
          <a:p>
            <a:pPr marL="0" indent="0" fontAlgn="auto">
              <a:lnSpc>
                <a:spcPct val="200000"/>
              </a:lnSpc>
              <a:buNone/>
            </a:pPr>
            <a:r>
              <a:rPr lang="en-US" altLang="zh-CN" dirty="0"/>
              <a:t>         </a:t>
            </a:r>
            <a:r>
              <a:rPr lang="zh-CN" altLang="en-US" dirty="0"/>
              <a:t>合肥综合性国家科学中心数据空间研究院是新一代信息技术数据空间领域的大型新型研发机构，</a:t>
            </a:r>
            <a:r>
              <a:rPr lang="en-US" altLang="zh-CN" dirty="0"/>
              <a:t>2022</a:t>
            </a:r>
            <a:r>
              <a:rPr lang="zh-CN" altLang="en-US" dirty="0"/>
              <a:t>年</a:t>
            </a:r>
            <a:r>
              <a:rPr lang="en-US" altLang="zh-CN" dirty="0"/>
              <a:t>5</a:t>
            </a:r>
            <a:r>
              <a:rPr lang="zh-CN" altLang="en-US" dirty="0"/>
              <a:t>月</a:t>
            </a:r>
            <a:r>
              <a:rPr lang="en-US" altLang="zh-CN" dirty="0"/>
              <a:t>6</a:t>
            </a:r>
            <a:r>
              <a:rPr lang="zh-CN" altLang="en-US" dirty="0"/>
              <a:t>日由安徽省人民政府发起成立，为登记设立的安徽省事业单位法人，坐落于合肥市高新区，由</a:t>
            </a:r>
            <a:r>
              <a:rPr lang="en-US" altLang="zh-CN" dirty="0"/>
              <a:t>“</a:t>
            </a:r>
            <a:r>
              <a:rPr lang="zh-CN" altLang="en-US" dirty="0"/>
              <a:t>国家最高科学技术奖</a:t>
            </a:r>
            <a:r>
              <a:rPr lang="en-US" altLang="zh-CN" dirty="0"/>
              <a:t>”</a:t>
            </a:r>
            <a:r>
              <a:rPr lang="zh-CN" altLang="en-US" dirty="0"/>
              <a:t>获得者王小谟院士出任创院院长，</a:t>
            </a:r>
            <a:r>
              <a:rPr lang="en-US" altLang="zh-CN" dirty="0"/>
              <a:t>8</a:t>
            </a:r>
            <a:r>
              <a:rPr lang="zh-CN" altLang="en-US" dirty="0"/>
              <a:t>位院士鼎力支持。以数据重构网络空间为核心理念，聚焦从数据到网络空间（</a:t>
            </a:r>
            <a:r>
              <a:rPr lang="en-US" altLang="zh-CN" dirty="0"/>
              <a:t>From Data to Cyberspace</a:t>
            </a:r>
            <a:r>
              <a:rPr lang="zh-CN" altLang="en-US" dirty="0"/>
              <a:t>），致力于引领网络空间安全和数据要素创新领域的前沿方向。</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实习工作介绍</a:t>
            </a:r>
            <a:endParaRPr lang="zh-CN" altLang="en-US" dirty="0"/>
          </a:p>
        </p:txBody>
      </p:sp>
      <p:sp>
        <p:nvSpPr>
          <p:cNvPr id="3" name="内容占位符 2"/>
          <p:cNvSpPr>
            <a:spLocks noGrp="1"/>
          </p:cNvSpPr>
          <p:nvPr>
            <p:ph idx="1"/>
          </p:nvPr>
        </p:nvSpPr>
        <p:spPr/>
        <p:txBody>
          <a:bodyPr>
            <a:normAutofit lnSpcReduction="20000"/>
          </a:bodyPr>
          <a:lstStyle/>
          <a:p>
            <a:pPr marL="0" indent="0">
              <a:buNone/>
            </a:pPr>
            <a:r>
              <a:rPr lang="zh-CN" altLang="en-US" dirty="0"/>
              <a:t>参与数据交易系统的迭代开发与系统联调工作</a:t>
            </a:r>
            <a:endParaRPr lang="zh-CN" altLang="en-US" dirty="0"/>
          </a:p>
          <a:p>
            <a:pPr marL="0" indent="0">
              <a:buNone/>
            </a:pPr>
            <a:endParaRPr lang="zh-CN" altLang="en-US" dirty="0"/>
          </a:p>
          <a:p>
            <a:r>
              <a:rPr lang="zh-CN" altLang="en-US" sz="2400" dirty="0"/>
              <a:t>统一网关的设计与实现（身份鉴权部分）</a:t>
            </a:r>
            <a:endParaRPr lang="zh-CN" altLang="en-US" sz="2400" dirty="0"/>
          </a:p>
          <a:p>
            <a:endParaRPr lang="zh-CN" altLang="en-US" sz="2400" dirty="0"/>
          </a:p>
          <a:p>
            <a:r>
              <a:rPr lang="zh-CN" altLang="en-US" sz="2400" dirty="0"/>
              <a:t>支付相关业务开发、支付与订单服务对接</a:t>
            </a:r>
            <a:endParaRPr lang="zh-CN" altLang="en-US" sz="2400" dirty="0"/>
          </a:p>
          <a:p>
            <a:endParaRPr lang="en-US" altLang="zh-CN" sz="2400" dirty="0"/>
          </a:p>
          <a:p>
            <a:r>
              <a:rPr lang="zh-CN" altLang="en-US" sz="2400" dirty="0"/>
              <a:t>数据产品周期管理相关接口实现、数据门户展示</a:t>
            </a:r>
            <a:endParaRPr lang="zh-CN" altLang="en-US" sz="2400" dirty="0"/>
          </a:p>
          <a:p>
            <a:endParaRPr lang="zh-CN" altLang="en-US" sz="2400" dirty="0"/>
          </a:p>
          <a:p>
            <a:r>
              <a:rPr lang="zh-CN" altLang="en-US" sz="2400" dirty="0"/>
              <a:t>选数车（购物车）</a:t>
            </a:r>
            <a:r>
              <a:rPr lang="zh-CN" altLang="en-US" sz="2400" dirty="0">
                <a:sym typeface="+mn-ea"/>
              </a:rPr>
              <a:t>独立</a:t>
            </a:r>
            <a:r>
              <a:rPr lang="zh-CN" altLang="en-US" sz="2400" dirty="0"/>
              <a:t>服务拆分与设计实现</a:t>
            </a:r>
            <a:endParaRPr lang="zh-CN" altLang="en-US" sz="2400" dirty="0"/>
          </a:p>
          <a:p>
            <a:endParaRPr lang="zh-CN" altLang="en-US" sz="2400" dirty="0"/>
          </a:p>
          <a:p>
            <a:r>
              <a:rPr lang="zh-CN" altLang="en-US" sz="2400" dirty="0"/>
              <a:t>文件解析类工具实现与封装、系统对外接口实现与提供</a:t>
            </a:r>
            <a:r>
              <a:rPr lang="en-US" altLang="zh-CN" sz="2400" dirty="0"/>
              <a:t>...</a:t>
            </a:r>
            <a:endParaRPr lang="en-US" altLang="zh-CN" sz="24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indent="0" fontAlgn="auto">
              <a:lnSpc>
                <a:spcPct val="150000"/>
              </a:lnSpc>
            </a:pPr>
            <a:r>
              <a:rPr lang="zh-CN" altLang="en-US" dirty="0"/>
              <a:t>论文进展情况</a:t>
            </a:r>
            <a:br>
              <a:rPr lang="zh-CN" altLang="en-US" dirty="0"/>
            </a:br>
            <a:r>
              <a:rPr lang="zh-CN" altLang="en-US" sz="2665" dirty="0"/>
              <a:t>论文题目</a:t>
            </a:r>
            <a:r>
              <a:rPr lang="zh-CN" altLang="en-US" sz="3110" dirty="0"/>
              <a:t>：</a:t>
            </a:r>
            <a:br>
              <a:rPr lang="zh-CN" altLang="en-US" sz="3110" dirty="0"/>
            </a:br>
            <a:r>
              <a:rPr lang="zh-CN" altLang="en-US" sz="3110" dirty="0"/>
              <a:t>《</a:t>
            </a:r>
            <a:r>
              <a:rPr lang="zh-CN" altLang="en-US" sz="3110" dirty="0" smtClean="0">
                <a:sym typeface="+mn-ea"/>
              </a:rPr>
              <a:t>基于微服务架构的数据交易系统设计与实现</a:t>
            </a:r>
            <a:r>
              <a:rPr lang="zh-CN" altLang="en-US" sz="3110" dirty="0"/>
              <a:t>》</a:t>
            </a:r>
            <a:endParaRPr lang="zh-CN" altLang="en-US" sz="3110" dirty="0"/>
          </a:p>
        </p:txBody>
      </p:sp>
      <p:sp>
        <p:nvSpPr>
          <p:cNvPr id="3" name="文本占位符 2"/>
          <p:cNvSpPr>
            <a:spLocks noGrp="1"/>
          </p:cNvSpPr>
          <p:nvPr>
            <p:ph type="body" idx="1"/>
          </p:nvPr>
        </p:nvSpPr>
        <p:spPr>
          <a:xfrm>
            <a:off x="3447152" y="2528891"/>
            <a:ext cx="8281907" cy="513778"/>
          </a:xfrm>
        </p:spPr>
        <p:txBody>
          <a:bodyPr>
            <a:normAutofit fontScale="25000"/>
          </a:bodyPr>
          <a:lstStyle/>
          <a:p>
            <a:r>
              <a:rPr lang="en-US" altLang="zh-CN" sz="9600" dirty="0" smtClean="0">
                <a:solidFill>
                  <a:schemeClr val="tx1"/>
                </a:solidFill>
                <a:sym typeface="+mn-ea"/>
              </a:rPr>
              <a:t>*</a:t>
            </a:r>
            <a:r>
              <a:rPr lang="zh-CN" altLang="en-US" sz="9600" dirty="0" smtClean="0">
                <a:solidFill>
                  <a:schemeClr val="tx1"/>
                </a:solidFill>
                <a:sym typeface="+mn-ea"/>
              </a:rPr>
              <a:t>选题背景</a:t>
            </a:r>
            <a:endParaRPr lang="zh-CN" altLang="en-US" sz="9600" dirty="0" smtClean="0">
              <a:solidFill>
                <a:schemeClr val="tx1"/>
              </a:solidFill>
            </a:endParaRPr>
          </a:p>
          <a:p>
            <a:endParaRPr lang="zh-CN" altLang="en-US" sz="9600" dirty="0" smtClean="0">
              <a:solidFill>
                <a:schemeClr val="tx1"/>
              </a:solidFill>
            </a:endParaRPr>
          </a:p>
          <a:p>
            <a:r>
              <a:rPr lang="en-US" altLang="zh-CN" sz="9600" dirty="0" smtClean="0">
                <a:solidFill>
                  <a:schemeClr val="tx1"/>
                </a:solidFill>
                <a:sym typeface="+mn-ea"/>
              </a:rPr>
              <a:t>*</a:t>
            </a:r>
            <a:r>
              <a:rPr lang="zh-CN" altLang="en-US" sz="9600" dirty="0" smtClean="0">
                <a:solidFill>
                  <a:schemeClr val="tx1"/>
                </a:solidFill>
                <a:sym typeface="+mn-ea"/>
              </a:rPr>
              <a:t>课题内容</a:t>
            </a:r>
            <a:endParaRPr lang="zh-CN" altLang="en-US" sz="9600" dirty="0" smtClean="0">
              <a:solidFill>
                <a:schemeClr val="tx1"/>
              </a:solidFill>
            </a:endParaRPr>
          </a:p>
          <a:p>
            <a:endParaRPr lang="zh-CN" altLang="en-US" sz="9600" dirty="0" smtClean="0">
              <a:solidFill>
                <a:schemeClr val="tx1"/>
              </a:solidFill>
            </a:endParaRPr>
          </a:p>
          <a:p>
            <a:r>
              <a:rPr lang="en-US" altLang="zh-CN" sz="9600" dirty="0" smtClean="0">
                <a:solidFill>
                  <a:schemeClr val="tx1"/>
                </a:solidFill>
                <a:sym typeface="+mn-ea"/>
              </a:rPr>
              <a:t>*</a:t>
            </a:r>
            <a:r>
              <a:rPr lang="zh-CN" altLang="en-US" sz="9600" dirty="0" smtClean="0">
                <a:solidFill>
                  <a:schemeClr val="tx1"/>
                </a:solidFill>
                <a:sym typeface="+mn-ea"/>
              </a:rPr>
              <a:t>解决方案</a:t>
            </a:r>
            <a:endParaRPr lang="zh-CN" altLang="en-US" sz="9600" dirty="0" smtClean="0">
              <a:solidFill>
                <a:schemeClr val="tx1"/>
              </a:solidFill>
            </a:endParaRPr>
          </a:p>
          <a:p>
            <a:endParaRPr lang="zh-CN" altLang="en-US" sz="9600" dirty="0" smtClean="0">
              <a:solidFill>
                <a:schemeClr val="tx1"/>
              </a:solidFill>
            </a:endParaRPr>
          </a:p>
          <a:p>
            <a:r>
              <a:rPr lang="en-US" altLang="zh-CN" sz="9600" dirty="0" smtClean="0">
                <a:solidFill>
                  <a:schemeClr val="tx1"/>
                </a:solidFill>
                <a:sym typeface="+mn-ea"/>
              </a:rPr>
              <a:t>*</a:t>
            </a:r>
            <a:r>
              <a:rPr lang="zh-CN" altLang="en-US" sz="9600" dirty="0" smtClean="0">
                <a:solidFill>
                  <a:schemeClr val="tx1"/>
                </a:solidFill>
                <a:sym typeface="+mn-ea"/>
              </a:rPr>
              <a:t>技术难点</a:t>
            </a:r>
            <a:endParaRPr lang="zh-CN" altLang="en-US" sz="9600" dirty="0" smtClean="0">
              <a:solidFill>
                <a:schemeClr val="tx1"/>
              </a:solidFill>
            </a:endParaRPr>
          </a:p>
          <a:p>
            <a:endParaRPr lang="zh-CN" altLang="en-US" dirty="0"/>
          </a:p>
        </p:txBody>
      </p:sp>
      <p:sp>
        <p:nvSpPr>
          <p:cNvPr id="9" name="文本占位符 8"/>
          <p:cNvSpPr>
            <a:spLocks noGrp="1"/>
          </p:cNvSpPr>
          <p:nvPr>
            <p:ph type="body" sz="quarter" idx="13"/>
          </p:nvPr>
        </p:nvSpPr>
        <p:spPr/>
        <p:txBody>
          <a:bodyPr/>
          <a:lstStyle/>
          <a:p>
            <a:endParaRPr lang="zh-CN" altLang="en-US"/>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sz="2800" dirty="0" smtClean="0">
                <a:sym typeface="+mn-ea"/>
              </a:rPr>
              <a:t>《基于微服务架构的数据交易系统设计与实现》</a:t>
            </a:r>
            <a:br>
              <a:rPr lang="zh-CN" altLang="en-US" sz="2800" dirty="0" smtClean="0">
                <a:sym typeface="+mn-ea"/>
              </a:rPr>
            </a:br>
            <a:r>
              <a:rPr lang="zh-CN" altLang="en-US" sz="2400" dirty="0" smtClean="0">
                <a:sym typeface="+mn-ea"/>
              </a:rPr>
              <a:t>选题背景</a:t>
            </a:r>
            <a:endParaRPr lang="zh-CN" altLang="en-US" sz="2400" dirty="0"/>
          </a:p>
        </p:txBody>
      </p:sp>
      <p:sp>
        <p:nvSpPr>
          <p:cNvPr id="3" name="内容占位符 2"/>
          <p:cNvSpPr>
            <a:spLocks noGrp="1"/>
          </p:cNvSpPr>
          <p:nvPr>
            <p:ph idx="1"/>
          </p:nvPr>
        </p:nvSpPr>
        <p:spPr/>
        <p:txBody>
          <a:bodyPr/>
          <a:lstStyle/>
          <a:p>
            <a:pPr marL="0" indent="0">
              <a:buNone/>
            </a:pPr>
            <a:r>
              <a:rPr lang="en-US" altLang="zh-CN" dirty="0"/>
              <a:t>2022</a:t>
            </a:r>
            <a:r>
              <a:rPr lang="zh-CN" altLang="en-US" dirty="0"/>
              <a:t>年，中共中央、国务院发布</a:t>
            </a:r>
            <a:r>
              <a:rPr lang="en-US" altLang="zh-CN" dirty="0"/>
              <a:t>“</a:t>
            </a:r>
            <a:r>
              <a:rPr lang="zh-CN" altLang="en-US" dirty="0"/>
              <a:t>数据二十条</a:t>
            </a:r>
            <a:r>
              <a:rPr lang="en-US" altLang="zh-CN" dirty="0"/>
              <a:t>”</a:t>
            </a:r>
            <a:r>
              <a:rPr lang="zh-CN" altLang="en-US" dirty="0"/>
              <a:t>，旨在构建数据基础制度体系，充分发挥数据要素价值，推动数字经济高质量发展；</a:t>
            </a:r>
            <a:endParaRPr lang="zh-CN" altLang="en-US" dirty="0"/>
          </a:p>
          <a:p>
            <a:pPr marL="0" indent="0">
              <a:buNone/>
            </a:pPr>
            <a:endParaRPr lang="zh-CN" altLang="en-US" dirty="0"/>
          </a:p>
          <a:p>
            <a:pPr marL="0" indent="0">
              <a:buNone/>
            </a:pPr>
            <a:r>
              <a:rPr lang="zh-CN" altLang="en-US" dirty="0"/>
              <a:t>数据要素市场化配置改革持续推进，国家层面持续推动数据基础制度建设；</a:t>
            </a:r>
            <a:endParaRPr lang="zh-CN" altLang="en-US" dirty="0"/>
          </a:p>
          <a:p>
            <a:pPr marL="0" indent="0">
              <a:buNone/>
            </a:pPr>
            <a:endParaRPr lang="zh-CN" altLang="en-US" dirty="0"/>
          </a:p>
          <a:p>
            <a:pPr marL="0" indent="0">
              <a:buNone/>
            </a:pPr>
            <a:r>
              <a:rPr lang="en-US" altLang="zh-CN" dirty="0"/>
              <a:t>2025</a:t>
            </a:r>
            <a:r>
              <a:rPr lang="zh-CN" altLang="en-US" dirty="0"/>
              <a:t>年，国家数据局组织开展可信数据空间创新发展试点；</a:t>
            </a:r>
            <a:endParaRPr lang="zh-CN" altLang="en-US" dirty="0"/>
          </a:p>
          <a:p>
            <a:pPr marL="0" indent="0">
              <a:buNone/>
            </a:pPr>
            <a:endParaRPr lang="zh-CN" altLang="en-US" dirty="0"/>
          </a:p>
          <a:p>
            <a:pPr marL="0" indent="0">
              <a:buNone/>
            </a:pPr>
            <a:r>
              <a:rPr lang="zh-CN" altLang="en-US" dirty="0"/>
              <a:t>杭州、上海纷纷推出各自的数据流通利用平台</a:t>
            </a:r>
            <a:r>
              <a:rPr lang="en-US" altLang="zh-CN" dirty="0"/>
              <a:t>...</a:t>
            </a:r>
            <a:endParaRPr lang="zh-CN" altLang="en-US" dirty="0"/>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sz="2800" dirty="0" smtClean="0">
                <a:sym typeface="+mn-ea"/>
              </a:rPr>
              <a:t>《基于微服务架构的数据交易系统设计与实现》</a:t>
            </a:r>
            <a:br>
              <a:rPr lang="zh-CN" altLang="en-US" sz="2800" dirty="0" smtClean="0">
                <a:sym typeface="+mn-ea"/>
              </a:rPr>
            </a:br>
            <a:r>
              <a:rPr lang="zh-CN" altLang="en-US" sz="2400" dirty="0" smtClean="0">
                <a:sym typeface="+mn-ea"/>
              </a:rPr>
              <a:t>课题内容</a:t>
            </a:r>
            <a:endParaRPr lang="zh-CN" altLang="en-US" sz="2400" dirty="0"/>
          </a:p>
        </p:txBody>
      </p:sp>
      <p:sp>
        <p:nvSpPr>
          <p:cNvPr id="3" name="内容占位符 2"/>
          <p:cNvSpPr>
            <a:spLocks noGrp="1"/>
          </p:cNvSpPr>
          <p:nvPr>
            <p:ph idx="1"/>
          </p:nvPr>
        </p:nvSpPr>
        <p:spPr/>
        <p:txBody>
          <a:bodyPr>
            <a:normAutofit fontScale="90000"/>
          </a:bodyPr>
          <a:lstStyle/>
          <a:p>
            <a:pPr marL="0" indent="0" fontAlgn="auto">
              <a:lnSpc>
                <a:spcPct val="100000"/>
              </a:lnSpc>
              <a:buNone/>
            </a:pPr>
            <a:r>
              <a:rPr lang="en-US" altLang="zh-CN" dirty="0"/>
              <a:t>          </a:t>
            </a:r>
            <a:r>
              <a:rPr lang="zh-CN" altLang="en-US" dirty="0"/>
              <a:t>本论文围绕企业实际数据交易平台建设需求，设计并实现一个基于微服务架构的数据交易系统。论文研究内容主要包括以下几个方面：</a:t>
            </a:r>
            <a:endParaRPr lang="en-US" altLang="zh-CN" dirty="0"/>
          </a:p>
          <a:p>
            <a:pPr fontAlgn="auto">
              <a:lnSpc>
                <a:spcPct val="150000"/>
              </a:lnSpc>
            </a:pPr>
            <a:r>
              <a:rPr lang="en-US" altLang="zh-CN" dirty="0"/>
              <a:t> </a:t>
            </a:r>
            <a:r>
              <a:rPr lang="zh-CN" altLang="en-US" dirty="0"/>
              <a:t>系统总体架构设计</a:t>
            </a:r>
            <a:endParaRPr lang="en-US" altLang="zh-CN" dirty="0"/>
          </a:p>
          <a:p>
            <a:pPr fontAlgn="auto">
              <a:lnSpc>
                <a:spcPct val="150000"/>
              </a:lnSpc>
            </a:pPr>
            <a:r>
              <a:rPr lang="en-US" altLang="zh-CN" dirty="0"/>
              <a:t> </a:t>
            </a:r>
            <a:r>
              <a:rPr lang="zh-CN" altLang="en-US" dirty="0"/>
              <a:t>统一接入网关设计与实现</a:t>
            </a:r>
            <a:endParaRPr lang="en-US" altLang="zh-CN" dirty="0"/>
          </a:p>
          <a:p>
            <a:pPr fontAlgn="auto">
              <a:lnSpc>
                <a:spcPct val="150000"/>
              </a:lnSpc>
            </a:pPr>
            <a:r>
              <a:rPr lang="en-US" altLang="zh-CN" dirty="0"/>
              <a:t> </a:t>
            </a:r>
            <a:r>
              <a:rPr lang="zh-CN" altLang="en-US" dirty="0">
                <a:sym typeface="+mn-ea"/>
              </a:rPr>
              <a:t>支付与订单模块设计与实现</a:t>
            </a:r>
            <a:endParaRPr lang="zh-CN" altLang="en-US" dirty="0"/>
          </a:p>
          <a:p>
            <a:pPr fontAlgn="auto">
              <a:lnSpc>
                <a:spcPct val="150000"/>
              </a:lnSpc>
            </a:pPr>
            <a:r>
              <a:rPr lang="en-US" altLang="zh-CN" dirty="0"/>
              <a:t> </a:t>
            </a:r>
            <a:r>
              <a:rPr lang="zh-CN" altLang="en-US" dirty="0"/>
              <a:t>数据产品流程管理设计与实现</a:t>
            </a:r>
            <a:endParaRPr lang="zh-CN" altLang="en-US" dirty="0"/>
          </a:p>
          <a:p>
            <a:pPr fontAlgn="auto">
              <a:lnSpc>
                <a:spcPct val="150000"/>
              </a:lnSpc>
            </a:pPr>
            <a:r>
              <a:rPr lang="en-US" altLang="zh-CN" dirty="0">
                <a:sym typeface="+mn-ea"/>
              </a:rPr>
              <a:t> </a:t>
            </a:r>
            <a:r>
              <a:rPr lang="zh-CN" altLang="en-US" dirty="0">
                <a:sym typeface="+mn-ea"/>
              </a:rPr>
              <a:t>选数车（购物车）</a:t>
            </a:r>
            <a:r>
              <a:rPr lang="zh-CN" altLang="en-US" dirty="0"/>
              <a:t>设计与实现</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87356"/>
            <a:ext cx="10744200" cy="665816"/>
          </a:xfrm>
        </p:spPr>
        <p:txBody>
          <a:bodyPr/>
          <a:lstStyle/>
          <a:p>
            <a:pPr marL="0" indent="0" fontAlgn="auto">
              <a:lnSpc>
                <a:spcPct val="150000"/>
              </a:lnSpc>
            </a:pPr>
            <a:br>
              <a:rPr lang="zh-CN" altLang="en-US" dirty="0"/>
            </a:br>
            <a:r>
              <a:rPr lang="zh-CN" altLang="en-US" sz="2800" dirty="0" smtClean="0">
                <a:sym typeface="+mn-ea"/>
              </a:rPr>
              <a:t>《基于微服务架构的数据交易系统设计与实现》</a:t>
            </a:r>
            <a:br>
              <a:rPr lang="zh-CN" altLang="en-US" dirty="0"/>
            </a:br>
            <a:r>
              <a:rPr lang="zh-CN" altLang="en-US" sz="2400" dirty="0">
                <a:solidFill>
                  <a:srgbClr val="FF0000"/>
                </a:solidFill>
              </a:rPr>
              <a:t>传统单体应用的困境</a:t>
            </a:r>
            <a:endParaRPr lang="zh-CN" altLang="en-US" sz="2400" dirty="0">
              <a:solidFill>
                <a:srgbClr val="FF0000"/>
              </a:solidFill>
            </a:endParaRPr>
          </a:p>
        </p:txBody>
      </p:sp>
      <p:sp>
        <p:nvSpPr>
          <p:cNvPr id="3" name="内容占位符 2"/>
          <p:cNvSpPr>
            <a:spLocks noGrp="1"/>
          </p:cNvSpPr>
          <p:nvPr>
            <p:ph idx="1"/>
          </p:nvPr>
        </p:nvSpPr>
        <p:spPr>
          <a:xfrm>
            <a:off x="342900" y="3062605"/>
            <a:ext cx="10741025" cy="2192020"/>
          </a:xfrm>
        </p:spPr>
        <p:txBody>
          <a:bodyPr/>
          <a:lstStyle/>
          <a:p>
            <a:pPr fontAlgn="auto">
              <a:lnSpc>
                <a:spcPct val="150000"/>
              </a:lnSpc>
            </a:pPr>
            <a:r>
              <a:rPr lang="zh-CN" altLang="en-US" sz="2400" dirty="0"/>
              <a:t>基于</a:t>
            </a:r>
            <a:r>
              <a:rPr lang="en-US" altLang="zh-CN" sz="2400" dirty="0"/>
              <a:t> Spring Cloud </a:t>
            </a:r>
            <a:r>
              <a:rPr lang="zh-CN" altLang="en-US" sz="2400" dirty="0"/>
              <a:t>体系的微服务架构方案</a:t>
            </a:r>
            <a:endParaRPr lang="zh-CN" altLang="en-US" sz="2400" dirty="0"/>
          </a:p>
          <a:p>
            <a:pPr fontAlgn="auto">
              <a:lnSpc>
                <a:spcPct val="150000"/>
              </a:lnSpc>
            </a:pPr>
            <a:r>
              <a:rPr lang="en-US" altLang="zh-CN" sz="2400" dirty="0"/>
              <a:t>“</a:t>
            </a:r>
            <a:r>
              <a:rPr lang="zh-CN" altLang="en-US" sz="2400" dirty="0"/>
              <a:t>高内聚、低耦合、服务自治、统一治理</a:t>
            </a:r>
            <a:r>
              <a:rPr lang="en-US" altLang="zh-CN" sz="2400" dirty="0"/>
              <a:t>”</a:t>
            </a:r>
            <a:r>
              <a:rPr lang="zh-CN" altLang="en-US" sz="2400" dirty="0"/>
              <a:t>原则</a:t>
            </a:r>
            <a:endParaRPr lang="en-US" altLang="zh-CN" sz="2400" dirty="0"/>
          </a:p>
          <a:p>
            <a:pPr fontAlgn="auto">
              <a:lnSpc>
                <a:spcPct val="150000"/>
              </a:lnSpc>
            </a:pPr>
            <a:r>
              <a:rPr lang="zh-CN" altLang="en-US" sz="2400" dirty="0"/>
              <a:t>具体实现</a:t>
            </a:r>
            <a:r>
              <a:rPr lang="en-US" altLang="zh-CN" sz="2400" dirty="0"/>
              <a:t> - </a:t>
            </a:r>
            <a:r>
              <a:rPr lang="zh-CN" altLang="en-US" sz="2400" dirty="0"/>
              <a:t>拆分为网关、业务、支付、订单、选数车等多个独立的微服务</a:t>
            </a:r>
            <a:endParaRPr lang="zh-CN" altLang="en-US" sz="24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5" name="标题 1"/>
          <p:cNvSpPr>
            <a:spLocks noGrp="1"/>
          </p:cNvSpPr>
          <p:nvPr/>
        </p:nvSpPr>
        <p:spPr>
          <a:xfrm>
            <a:off x="609600" y="2396789"/>
            <a:ext cx="10744200" cy="6658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marL="0" indent="0" fontAlgn="auto">
              <a:lnSpc>
                <a:spcPct val="150000"/>
              </a:lnSpc>
            </a:pPr>
            <a:r>
              <a:rPr lang="zh-CN" altLang="en-US" sz="2800" dirty="0"/>
              <a:t>解决方案</a:t>
            </a:r>
            <a:endParaRPr lang="zh-CN" altLang="en-US" sz="2800" dirty="0"/>
          </a:p>
        </p:txBody>
      </p:sp>
      <p:sp>
        <p:nvSpPr>
          <p:cNvPr id="6" name="内容占位符 2"/>
          <p:cNvSpPr>
            <a:spLocks noGrp="1"/>
          </p:cNvSpPr>
          <p:nvPr/>
        </p:nvSpPr>
        <p:spPr>
          <a:xfrm>
            <a:off x="397510" y="1102995"/>
            <a:ext cx="10741025" cy="2192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pPr>
            <a:r>
              <a:rPr lang="zh-CN" altLang="en-US" sz="2400" dirty="0">
                <a:solidFill>
                  <a:srgbClr val="FF0000"/>
                </a:solidFill>
              </a:rPr>
              <a:t>模块耦合度高、扩展困难</a:t>
            </a:r>
            <a:r>
              <a:rPr lang="en-US" altLang="zh-CN" sz="2400" dirty="0">
                <a:solidFill>
                  <a:srgbClr val="FF0000"/>
                </a:solidFill>
              </a:rPr>
              <a:t>...</a:t>
            </a:r>
            <a:endParaRPr lang="en-US" altLang="zh-CN" sz="2400" dirty="0">
              <a:solidFill>
                <a:srgbClr val="FF0000"/>
              </a:solidFill>
            </a:endParaRPr>
          </a:p>
          <a:p>
            <a:pPr fontAlgn="auto">
              <a:lnSpc>
                <a:spcPct val="150000"/>
              </a:lnSpc>
            </a:pPr>
            <a:r>
              <a:rPr lang="zh-CN" altLang="en-US" sz="2400" dirty="0">
                <a:solidFill>
                  <a:srgbClr val="FF0000"/>
                </a:solidFill>
              </a:rPr>
              <a:t>不利于做统一治理</a:t>
            </a:r>
            <a:r>
              <a:rPr lang="en-US" altLang="zh-CN" sz="2400" dirty="0">
                <a:solidFill>
                  <a:srgbClr val="FF0000"/>
                </a:solidFill>
              </a:rPr>
              <a:t>...</a:t>
            </a:r>
            <a:endParaRPr lang="en-US" altLang="zh-CN" sz="2400" dirty="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sz="2800" dirty="0" smtClean="0">
                <a:sym typeface="+mn-ea"/>
              </a:rPr>
              <a:t>《基于微服务架构的数据交易系统设计与实现》</a:t>
            </a:r>
            <a:br>
              <a:rPr lang="zh-CN" altLang="en-US" dirty="0" smtClean="0">
                <a:sym typeface="+mn-ea"/>
              </a:rPr>
            </a:br>
            <a:r>
              <a:rPr lang="zh-CN" altLang="en-US" sz="2400" dirty="0"/>
              <a:t>技术难点</a:t>
            </a:r>
            <a:endParaRPr lang="zh-CN" altLang="en-US" sz="2400" dirty="0"/>
          </a:p>
        </p:txBody>
      </p:sp>
      <p:sp>
        <p:nvSpPr>
          <p:cNvPr id="3" name="内容占位符 2"/>
          <p:cNvSpPr>
            <a:spLocks noGrp="1"/>
          </p:cNvSpPr>
          <p:nvPr>
            <p:ph idx="1"/>
          </p:nvPr>
        </p:nvSpPr>
        <p:spPr>
          <a:xfrm>
            <a:off x="612774" y="1547072"/>
            <a:ext cx="10741155" cy="4698999"/>
          </a:xfrm>
        </p:spPr>
        <p:txBody>
          <a:bodyPr/>
          <a:lstStyle/>
          <a:p>
            <a:r>
              <a:rPr lang="zh-CN" altLang="en-US" dirty="0"/>
              <a:t>网关统一治理与安全控制问题</a:t>
            </a:r>
            <a:endParaRPr lang="zh-CN" altLang="en-US" dirty="0"/>
          </a:p>
          <a:p>
            <a:endParaRPr lang="en-US" altLang="zh-CN" dirty="0"/>
          </a:p>
          <a:p>
            <a:r>
              <a:rPr lang="zh-CN" altLang="en-US" dirty="0"/>
              <a:t>支付流程中的安全性和状态一致性问题</a:t>
            </a:r>
            <a:endParaRPr lang="zh-CN" altLang="en-US" dirty="0"/>
          </a:p>
          <a:p>
            <a:endParaRPr lang="zh-CN" altLang="en-US" dirty="0"/>
          </a:p>
          <a:p>
            <a:r>
              <a:rPr lang="zh-CN" altLang="en-US" dirty="0"/>
              <a:t>数据产品上下架过程中的异步处理与并发控制问题</a:t>
            </a:r>
            <a:endParaRPr lang="zh-CN" altLang="en-US" dirty="0"/>
          </a:p>
          <a:p>
            <a:endParaRPr lang="zh-CN" altLang="en-US" dirty="0"/>
          </a:p>
          <a:p>
            <a:r>
              <a:rPr lang="zh-CN" altLang="en-US" dirty="0"/>
              <a:t>选数车服务中的跨服务数据一致性与价格计算协同问题</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dirty="0"/>
              <a:t>技术难点</a:t>
            </a:r>
            <a:r>
              <a:rPr lang="en-US" altLang="zh-CN" dirty="0"/>
              <a:t>-</a:t>
            </a:r>
            <a:r>
              <a:rPr lang="zh-CN" altLang="en-US" dirty="0"/>
              <a:t>支付</a:t>
            </a:r>
            <a:br>
              <a:rPr lang="zh-CN" altLang="en-US" dirty="0"/>
            </a:br>
            <a:r>
              <a:rPr lang="zh-CN" altLang="en-US" sz="2800" dirty="0"/>
              <a:t>传统单体架构下的支付实现方式</a:t>
            </a:r>
            <a:endParaRPr lang="zh-CN" altLang="en-US" sz="2800" dirty="0"/>
          </a:p>
        </p:txBody>
      </p:sp>
      <p:sp>
        <p:nvSpPr>
          <p:cNvPr id="3" name="内容占位符 2"/>
          <p:cNvSpPr>
            <a:spLocks noGrp="1"/>
          </p:cNvSpPr>
          <p:nvPr>
            <p:ph idx="1"/>
          </p:nvPr>
        </p:nvSpPr>
        <p:spPr>
          <a:xfrm>
            <a:off x="609600" y="1466850"/>
            <a:ext cx="5395595" cy="4699000"/>
          </a:xfrm>
        </p:spPr>
        <p:txBody>
          <a:bodyPr/>
          <a:lstStyle/>
          <a:p>
            <a:r>
              <a:rPr lang="zh-CN" altLang="en-US" dirty="0"/>
              <a:t>支付逻辑嵌入订单系统</a:t>
            </a:r>
            <a:endParaRPr lang="zh-CN" altLang="en-US" dirty="0"/>
          </a:p>
          <a:p>
            <a:endParaRPr lang="en-US" altLang="zh-CN" dirty="0"/>
          </a:p>
          <a:p>
            <a:r>
              <a:rPr lang="zh-CN" altLang="en-US" dirty="0"/>
              <a:t>订单服务直接调用支付平台</a:t>
            </a:r>
            <a:endParaRPr lang="zh-CN" altLang="en-US" dirty="0"/>
          </a:p>
          <a:p>
            <a:endParaRPr lang="en-US" altLang="zh-CN" dirty="0"/>
          </a:p>
          <a:p>
            <a:r>
              <a:rPr lang="zh-CN" altLang="en-US" dirty="0"/>
              <a:t>支付结果回调后更新订单状态</a:t>
            </a:r>
            <a:endParaRPr lang="zh-CN" altLang="en-US" dirty="0"/>
          </a:p>
          <a:p>
            <a:endParaRPr lang="en-US" altLang="zh-CN" dirty="0"/>
          </a:p>
          <a:p>
            <a:r>
              <a:rPr lang="zh-CN" altLang="en-US" dirty="0"/>
              <a:t>业务逻辑高度耦合</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QQ_177345892309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488305" y="100965"/>
            <a:ext cx="6085840" cy="53848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dirty="0">
                <a:sym typeface="+mn-ea"/>
              </a:rPr>
              <a:t>技术难点</a:t>
            </a:r>
            <a:r>
              <a:rPr lang="en-US" altLang="zh-CN" dirty="0">
                <a:sym typeface="+mn-ea"/>
              </a:rPr>
              <a:t>-</a:t>
            </a:r>
            <a:r>
              <a:rPr lang="zh-CN" altLang="en-US" dirty="0">
                <a:sym typeface="+mn-ea"/>
              </a:rPr>
              <a:t>支付</a:t>
            </a:r>
            <a:br>
              <a:rPr lang="zh-CN" altLang="en-US" dirty="0">
                <a:sym typeface="+mn-ea"/>
              </a:rPr>
            </a:br>
            <a:r>
              <a:rPr lang="zh-CN" altLang="en-US" sz="2800" dirty="0"/>
              <a:t>单体支付模式的局限性</a:t>
            </a:r>
            <a:endParaRPr lang="zh-CN" altLang="en-US" sz="2800" dirty="0"/>
          </a:p>
        </p:txBody>
      </p:sp>
      <p:sp>
        <p:nvSpPr>
          <p:cNvPr id="3" name="内容占位符 2"/>
          <p:cNvSpPr>
            <a:spLocks noGrp="1"/>
          </p:cNvSpPr>
          <p:nvPr>
            <p:ph idx="1"/>
          </p:nvPr>
        </p:nvSpPr>
        <p:spPr>
          <a:xfrm>
            <a:off x="609599" y="1467062"/>
            <a:ext cx="10741155" cy="4698999"/>
          </a:xfrm>
        </p:spPr>
        <p:txBody>
          <a:bodyPr/>
          <a:lstStyle/>
          <a:p>
            <a:r>
              <a:rPr lang="zh-CN" altLang="en-US" dirty="0"/>
              <a:t>支付安全逻辑与订单系统强耦合</a:t>
            </a:r>
            <a:endParaRPr lang="zh-CN" altLang="en-US" dirty="0"/>
          </a:p>
          <a:p>
            <a:endParaRPr lang="en-US" altLang="zh-CN" dirty="0"/>
          </a:p>
          <a:p>
            <a:r>
              <a:rPr lang="zh-CN" altLang="en-US" dirty="0"/>
              <a:t>异步回调处理复杂</a:t>
            </a:r>
            <a:endParaRPr lang="zh-CN" altLang="en-US" dirty="0"/>
          </a:p>
          <a:p>
            <a:endParaRPr lang="en-US" altLang="zh-CN" dirty="0"/>
          </a:p>
          <a:p>
            <a:r>
              <a:rPr lang="zh-CN" altLang="en-US" dirty="0"/>
              <a:t>支付能力难以复用</a:t>
            </a:r>
            <a:endParaRPr lang="zh-CN" altLang="en-US" dirty="0"/>
          </a:p>
          <a:p>
            <a:endParaRPr lang="en-US" altLang="zh-CN" dirty="0"/>
          </a:p>
          <a:p>
            <a:r>
              <a:rPr lang="zh-CN" altLang="en-US" dirty="0"/>
              <a:t>局部影响全局</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QQ_177345916160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081395" y="1259205"/>
            <a:ext cx="5345430" cy="34588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dirty="0">
                <a:sym typeface="+mn-ea"/>
              </a:rPr>
              <a:t>技术难点</a:t>
            </a:r>
            <a:r>
              <a:rPr lang="en-US" altLang="zh-CN" dirty="0">
                <a:sym typeface="+mn-ea"/>
              </a:rPr>
              <a:t>-</a:t>
            </a:r>
            <a:r>
              <a:rPr lang="zh-CN" altLang="en-US" dirty="0">
                <a:sym typeface="+mn-ea"/>
              </a:rPr>
              <a:t>支付</a:t>
            </a:r>
            <a:br>
              <a:rPr lang="zh-CN" altLang="en-US" dirty="0">
                <a:sym typeface="+mn-ea"/>
              </a:rPr>
            </a:br>
            <a:r>
              <a:rPr lang="zh-CN" altLang="en-US" sz="2400" dirty="0"/>
              <a:t>支付微服务架构</a:t>
            </a:r>
            <a:endParaRPr lang="zh-CN" altLang="en-US" sz="2400" dirty="0"/>
          </a:p>
        </p:txBody>
      </p:sp>
      <p:sp>
        <p:nvSpPr>
          <p:cNvPr id="3" name="内容占位符 2"/>
          <p:cNvSpPr>
            <a:spLocks noGrp="1"/>
          </p:cNvSpPr>
          <p:nvPr>
            <p:ph idx="1"/>
          </p:nvPr>
        </p:nvSpPr>
        <p:spPr>
          <a:xfrm>
            <a:off x="609599" y="1477857"/>
            <a:ext cx="10741155" cy="4698999"/>
          </a:xfrm>
        </p:spPr>
        <p:txBody>
          <a:bodyPr/>
          <a:lstStyle/>
          <a:p>
            <a:r>
              <a:rPr lang="zh-CN" altLang="en-US" dirty="0"/>
              <a:t>支付能力从订单服务中拆分</a:t>
            </a:r>
            <a:endParaRPr lang="zh-CN" altLang="en-US" dirty="0"/>
          </a:p>
          <a:p>
            <a:endParaRPr lang="en-US" altLang="zh-CN" dirty="0"/>
          </a:p>
          <a:p>
            <a:r>
              <a:rPr lang="zh-CN" altLang="en-US" dirty="0"/>
              <a:t>构建独立支付服务</a:t>
            </a:r>
            <a:endParaRPr lang="zh-CN" altLang="en-US" dirty="0"/>
          </a:p>
          <a:p>
            <a:endParaRPr lang="en-US" altLang="zh-CN" dirty="0"/>
          </a:p>
          <a:p>
            <a:r>
              <a:rPr lang="zh-CN" altLang="en-US" dirty="0"/>
              <a:t>统一处理支付下单、回调、退款</a:t>
            </a:r>
            <a:endParaRPr lang="zh-CN" altLang="en-US" dirty="0"/>
          </a:p>
          <a:p>
            <a:endParaRPr lang="en-US" altLang="zh-CN" dirty="0"/>
          </a:p>
          <a:p>
            <a:r>
              <a:rPr lang="zh-CN" altLang="en-US" dirty="0"/>
              <a:t>订单服务只管理订单状态</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6" name="图片 5" descr="QQ_177346032024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096000" y="395605"/>
            <a:ext cx="5191125" cy="50673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dirty="0">
                <a:sym typeface="+mn-ea"/>
              </a:rPr>
              <a:t>技术难点</a:t>
            </a:r>
            <a:r>
              <a:rPr lang="en-US" altLang="zh-CN" dirty="0">
                <a:sym typeface="+mn-ea"/>
              </a:rPr>
              <a:t>-</a:t>
            </a:r>
            <a:r>
              <a:rPr lang="zh-CN" altLang="en-US" dirty="0">
                <a:sym typeface="+mn-ea"/>
              </a:rPr>
              <a:t>支付</a:t>
            </a:r>
            <a:br>
              <a:rPr lang="zh-CN" altLang="en-US" dirty="0">
                <a:sym typeface="+mn-ea"/>
              </a:rPr>
            </a:br>
            <a:r>
              <a:rPr lang="zh-CN" altLang="en-US" sz="2400" dirty="0"/>
              <a:t>支付微服务的核心技术难点</a:t>
            </a:r>
            <a:endParaRPr lang="zh-CN" altLang="en-US" sz="2400" dirty="0"/>
          </a:p>
        </p:txBody>
      </p:sp>
      <p:sp>
        <p:nvSpPr>
          <p:cNvPr id="3" name="内容占位符 2"/>
          <p:cNvSpPr>
            <a:spLocks noGrp="1"/>
          </p:cNvSpPr>
          <p:nvPr>
            <p:ph idx="1"/>
          </p:nvPr>
        </p:nvSpPr>
        <p:spPr>
          <a:xfrm>
            <a:off x="609599" y="1477857"/>
            <a:ext cx="10741155" cy="4698999"/>
          </a:xfrm>
        </p:spPr>
        <p:txBody>
          <a:bodyPr>
            <a:normAutofit fontScale="90000"/>
          </a:bodyPr>
          <a:lstStyle/>
          <a:p>
            <a:pPr marL="0" indent="0" fontAlgn="auto">
              <a:lnSpc>
                <a:spcPct val="100000"/>
              </a:lnSpc>
              <a:buNone/>
            </a:pPr>
            <a:r>
              <a:rPr lang="en-US" altLang="zh-CN" b="1" dirty="0"/>
              <a:t>1</a:t>
            </a:r>
            <a:r>
              <a:rPr lang="en-US" altLang="zh-CN" dirty="0"/>
              <a:t> </a:t>
            </a:r>
            <a:r>
              <a:rPr lang="zh-CN" altLang="en-US" b="1" dirty="0"/>
              <a:t>支付安全校验</a:t>
            </a:r>
            <a:endParaRPr lang="en-US" altLang="zh-CN" dirty="0"/>
          </a:p>
          <a:p>
            <a:pPr fontAlgn="auto">
              <a:lnSpc>
                <a:spcPct val="100000"/>
              </a:lnSpc>
            </a:pPr>
            <a:r>
              <a:rPr lang="zh-CN" altLang="en-US" dirty="0"/>
              <a:t>第三方回调需要签名验证</a:t>
            </a:r>
            <a:endParaRPr lang="en-US" altLang="zh-CN" dirty="0"/>
          </a:p>
          <a:p>
            <a:pPr fontAlgn="auto">
              <a:lnSpc>
                <a:spcPct val="100000"/>
              </a:lnSpc>
            </a:pPr>
            <a:r>
              <a:rPr lang="zh-CN" altLang="en-US" dirty="0"/>
              <a:t>防止伪造支付成功请求</a:t>
            </a:r>
            <a:endParaRPr lang="en-US" altLang="zh-CN" dirty="0"/>
          </a:p>
          <a:p>
            <a:pPr marL="0" indent="0" fontAlgn="auto">
              <a:lnSpc>
                <a:spcPct val="100000"/>
              </a:lnSpc>
              <a:buNone/>
            </a:pPr>
            <a:r>
              <a:rPr lang="en-US" altLang="zh-CN" b="1" dirty="0"/>
              <a:t>2</a:t>
            </a:r>
            <a:r>
              <a:rPr lang="en-US" altLang="zh-CN" dirty="0"/>
              <a:t> </a:t>
            </a:r>
            <a:r>
              <a:rPr lang="zh-CN" altLang="en-US" b="1" dirty="0"/>
              <a:t>支付状态一致性</a:t>
            </a:r>
            <a:endParaRPr lang="en-US" altLang="zh-CN" dirty="0"/>
          </a:p>
          <a:p>
            <a:pPr fontAlgn="auto">
              <a:lnSpc>
                <a:spcPct val="100000"/>
              </a:lnSpc>
            </a:pPr>
            <a:r>
              <a:rPr lang="zh-CN" altLang="en-US" dirty="0"/>
              <a:t>支付结果通过异步回调通知</a:t>
            </a:r>
            <a:endParaRPr lang="en-US" altLang="zh-CN" dirty="0"/>
          </a:p>
          <a:p>
            <a:pPr fontAlgn="auto">
              <a:lnSpc>
                <a:spcPct val="100000"/>
              </a:lnSpc>
            </a:pPr>
            <a:r>
              <a:rPr lang="zh-CN" altLang="en-US" dirty="0"/>
              <a:t>需要处理重复通知与幂等控制</a:t>
            </a:r>
            <a:endParaRPr lang="en-US" altLang="zh-CN" dirty="0"/>
          </a:p>
          <a:p>
            <a:pPr marL="0" indent="0" fontAlgn="auto">
              <a:lnSpc>
                <a:spcPct val="100000"/>
              </a:lnSpc>
              <a:buNone/>
            </a:pPr>
            <a:r>
              <a:rPr lang="en-US" altLang="zh-CN" b="1" dirty="0"/>
              <a:t>3</a:t>
            </a:r>
            <a:r>
              <a:rPr lang="en-US" altLang="zh-CN" dirty="0"/>
              <a:t> </a:t>
            </a:r>
            <a:r>
              <a:rPr lang="zh-CN" altLang="en-US" b="1" dirty="0"/>
              <a:t>跨服务状态协同</a:t>
            </a:r>
            <a:endParaRPr lang="en-US" altLang="zh-CN" dirty="0"/>
          </a:p>
          <a:p>
            <a:pPr fontAlgn="auto">
              <a:lnSpc>
                <a:spcPct val="100000"/>
              </a:lnSpc>
            </a:pPr>
            <a:r>
              <a:rPr lang="zh-CN" altLang="en-US" dirty="0"/>
              <a:t>支付成功后需更新订单状态</a:t>
            </a:r>
            <a:endParaRPr lang="en-US" altLang="zh-CN" dirty="0"/>
          </a:p>
          <a:p>
            <a:pPr fontAlgn="auto">
              <a:lnSpc>
                <a:spcPct val="100000"/>
              </a:lnSpc>
            </a:pPr>
            <a:r>
              <a:rPr lang="zh-CN" altLang="en-US" dirty="0"/>
              <a:t>异常情况下需要补偿机制</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QQ_1773461480522"/>
          <p:cNvPicPr>
            <a:picLocks noChangeAspect="1"/>
          </p:cNvPicPr>
          <p:nvPr/>
        </p:nvPicPr>
        <p:blipFill>
          <a:blip r:embed="rId1">
            <a:clrChange>
              <a:clrFrom>
                <a:srgbClr val="FFFFFF">
                  <a:alpha val="100000"/>
                </a:srgbClr>
              </a:clrFrom>
              <a:clrTo>
                <a:srgbClr val="FFFFFF">
                  <a:alpha val="100000"/>
                  <a:alpha val="0"/>
                </a:srgbClr>
              </a:clrTo>
            </a:clrChange>
            <a:duotone>
              <a:prstClr val="black"/>
              <a:schemeClr val="tx2">
                <a:tint val="45000"/>
                <a:satMod val="400000"/>
              </a:schemeClr>
            </a:duotone>
          </a:blip>
          <a:stretch>
            <a:fillRect/>
          </a:stretch>
        </p:blipFill>
        <p:spPr>
          <a:xfrm>
            <a:off x="4850765" y="1330325"/>
            <a:ext cx="6248400" cy="388048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fontAlgn="auto">
              <a:lnSpc>
                <a:spcPct val="150000"/>
              </a:lnSpc>
            </a:pPr>
            <a:r>
              <a:rPr lang="zh-CN" altLang="en-US" dirty="0">
                <a:sym typeface="+mn-ea"/>
              </a:rPr>
              <a:t>特色分析</a:t>
            </a:r>
            <a:br>
              <a:rPr lang="zh-CN" altLang="en-US" dirty="0">
                <a:sym typeface="+mn-ea"/>
              </a:rPr>
            </a:br>
            <a:endParaRPr lang="zh-CN" altLang="en-US" sz="2400" dirty="0"/>
          </a:p>
        </p:txBody>
      </p:sp>
      <p:sp>
        <p:nvSpPr>
          <p:cNvPr id="3" name="内容占位符 2"/>
          <p:cNvSpPr>
            <a:spLocks noGrp="1"/>
          </p:cNvSpPr>
          <p:nvPr>
            <p:ph idx="1"/>
          </p:nvPr>
        </p:nvSpPr>
        <p:spPr>
          <a:xfrm>
            <a:off x="609599" y="1477857"/>
            <a:ext cx="10741155" cy="4698999"/>
          </a:xfrm>
        </p:spPr>
        <p:txBody>
          <a:bodyPr>
            <a:normAutofit/>
          </a:bodyPr>
          <a:lstStyle/>
          <a:p>
            <a:pPr marL="0" indent="0" fontAlgn="auto">
              <a:lnSpc>
                <a:spcPct val="100000"/>
              </a:lnSpc>
              <a:buNone/>
            </a:pPr>
            <a:r>
              <a:rPr lang="en-US" altLang="zh-CN" dirty="0"/>
              <a:t>1. </a:t>
            </a:r>
            <a:r>
              <a:rPr lang="zh-CN" altLang="en-US" dirty="0"/>
              <a:t>来源于真实企业项目，工程背景明确</a:t>
            </a:r>
            <a:endParaRPr lang="zh-CN" altLang="en-US" dirty="0"/>
          </a:p>
          <a:p>
            <a:pPr marL="0" indent="0" fontAlgn="auto">
              <a:lnSpc>
                <a:spcPct val="100000"/>
              </a:lnSpc>
              <a:buNone/>
            </a:pPr>
            <a:endParaRPr lang="en-US" altLang="zh-CN" dirty="0"/>
          </a:p>
          <a:p>
            <a:pPr marL="0" indent="0" fontAlgn="auto">
              <a:lnSpc>
                <a:spcPct val="100000"/>
              </a:lnSpc>
              <a:buNone/>
            </a:pPr>
            <a:r>
              <a:rPr lang="en-US" altLang="zh-CN" dirty="0"/>
              <a:t>2. </a:t>
            </a:r>
            <a:r>
              <a:rPr lang="zh-CN" altLang="en-US" dirty="0"/>
              <a:t>紧扣数据要素流通与可信交易场景</a:t>
            </a:r>
            <a:endParaRPr lang="zh-CN" altLang="en-US" dirty="0"/>
          </a:p>
          <a:p>
            <a:pPr marL="0" indent="0" fontAlgn="auto">
              <a:lnSpc>
                <a:spcPct val="100000"/>
              </a:lnSpc>
              <a:buNone/>
            </a:pPr>
            <a:endParaRPr lang="en-US" altLang="zh-CN" dirty="0"/>
          </a:p>
          <a:p>
            <a:pPr marL="0" indent="0" fontAlgn="auto">
              <a:lnSpc>
                <a:spcPct val="100000"/>
              </a:lnSpc>
              <a:buNone/>
            </a:pPr>
            <a:r>
              <a:rPr lang="en-US" altLang="zh-CN" dirty="0"/>
              <a:t>3. </a:t>
            </a:r>
            <a:r>
              <a:rPr lang="zh-CN" altLang="en-US" dirty="0"/>
              <a:t>突出微服务架构下关键模块的专项设计</a:t>
            </a:r>
            <a:endParaRPr lang="en-US" altLang="zh-CN"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实习收获</a:t>
            </a:r>
            <a:endParaRPr lang="zh-CN" altLang="en-US" dirty="0"/>
          </a:p>
        </p:txBody>
      </p:sp>
      <p:sp>
        <p:nvSpPr>
          <p:cNvPr id="3" name="文本占位符 2"/>
          <p:cNvSpPr>
            <a:spLocks noGrp="1"/>
          </p:cNvSpPr>
          <p:nvPr>
            <p:ph type="body" idx="1"/>
          </p:nvPr>
        </p:nvSpPr>
        <p:spPr/>
        <p:txBody>
          <a:bodyPr/>
          <a:lstStyle/>
          <a:p>
            <a:endParaRPr lang="zh-CN" altLang="en-US" dirty="0"/>
          </a:p>
        </p:txBody>
      </p:sp>
      <p:sp>
        <p:nvSpPr>
          <p:cNvPr id="9" name="文本占位符 8"/>
          <p:cNvSpPr>
            <a:spLocks noGrp="1"/>
          </p:cNvSpPr>
          <p:nvPr>
            <p:ph type="body" sz="quarter" idx="13"/>
          </p:nvPr>
        </p:nvSpPr>
        <p:spPr/>
        <p:txBody>
          <a:bodyPr/>
          <a:lstStyle/>
          <a:p>
            <a:endParaRPr lang="zh-CN" altLang="en-US"/>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从只会写代码到思考系统架构</a:t>
            </a:r>
            <a:endParaRPr lang="zh-CN" altLang="en-US" dirty="0"/>
          </a:p>
          <a:p>
            <a:endParaRPr lang="zh-CN" altLang="en-US" dirty="0"/>
          </a:p>
          <a:p>
            <a:r>
              <a:rPr lang="zh-CN" altLang="en-US" dirty="0"/>
              <a:t>从钻研如何造</a:t>
            </a:r>
            <a:r>
              <a:rPr lang="en-US" altLang="zh-CN" dirty="0"/>
              <a:t>“</a:t>
            </a:r>
            <a:r>
              <a:rPr lang="zh-CN" altLang="en-US" dirty="0"/>
              <a:t>轮子</a:t>
            </a:r>
            <a:r>
              <a:rPr lang="en-US" altLang="zh-CN" dirty="0"/>
              <a:t>”</a:t>
            </a:r>
            <a:r>
              <a:rPr lang="zh-CN" altLang="en-US" dirty="0"/>
              <a:t>到问题导向</a:t>
            </a:r>
            <a:endParaRPr lang="zh-CN" altLang="en-US" dirty="0"/>
          </a:p>
          <a:p>
            <a:endParaRPr lang="zh-CN" altLang="en-US" dirty="0"/>
          </a:p>
          <a:p>
            <a:r>
              <a:rPr lang="zh-CN" altLang="en-US" dirty="0"/>
              <a:t>从</a:t>
            </a:r>
            <a:r>
              <a:rPr lang="en-US" altLang="zh-CN" dirty="0"/>
              <a:t>“</a:t>
            </a:r>
            <a:r>
              <a:rPr lang="zh-CN" altLang="en-US" dirty="0"/>
              <a:t>低质量内卷</a:t>
            </a:r>
            <a:r>
              <a:rPr lang="en-US" altLang="zh-CN" dirty="0"/>
              <a:t>”</a:t>
            </a:r>
            <a:r>
              <a:rPr lang="zh-CN" altLang="en-US" dirty="0"/>
              <a:t>到做好人生战略</a:t>
            </a:r>
            <a:r>
              <a:rPr lang="en-US" altLang="zh-CN" dirty="0"/>
              <a:t> </a:t>
            </a:r>
            <a:endParaRPr lang="en-US" altLang="zh-CN"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谢谢！</a:t>
            </a:r>
            <a:endParaRPr lang="zh-CN" altLang="en-US" dirty="0"/>
          </a:p>
        </p:txBody>
      </p:sp>
      <p:sp>
        <p:nvSpPr>
          <p:cNvPr id="3" name="副标题 2"/>
          <p:cNvSpPr>
            <a:spLocks noGrp="1"/>
          </p:cNvSpPr>
          <p:nvPr>
            <p:ph type="subTitle" idx="1"/>
          </p:nvPr>
        </p:nvSpPr>
        <p:spPr/>
        <p:txBody>
          <a:bodyPr/>
          <a:lstStyle/>
          <a:p>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teach">
      <a:dk1>
        <a:srgbClr val="11344A"/>
      </a:dk1>
      <a:lt1>
        <a:srgbClr val="E6F5FF"/>
      </a:lt1>
      <a:dk2>
        <a:srgbClr val="11344A"/>
      </a:dk2>
      <a:lt2>
        <a:srgbClr val="E6F5FF"/>
      </a:lt2>
      <a:accent1>
        <a:srgbClr val="115D8A"/>
      </a:accent1>
      <a:accent2>
        <a:srgbClr val="19B5CA"/>
      </a:accent2>
      <a:accent3>
        <a:srgbClr val="FFCA0F"/>
      </a:accent3>
      <a:accent4>
        <a:srgbClr val="D28527"/>
      </a:accent4>
      <a:accent5>
        <a:srgbClr val="CE2424"/>
      </a:accent5>
      <a:accent6>
        <a:srgbClr val="37990E"/>
      </a:accent6>
      <a:hlink>
        <a:srgbClr val="0563C1"/>
      </a:hlink>
      <a:folHlink>
        <a:srgbClr val="954F72"/>
      </a:folHlink>
    </a:clrScheme>
    <a:fontScheme name="teach">
      <a:majorFont>
        <a:latin typeface="Candara"/>
        <a:ea typeface="微软雅黑"/>
        <a:cs typeface=""/>
      </a:majorFont>
      <a:minorFont>
        <a:latin typeface="Candara"/>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1445</Words>
  <Application>WPS 演示</Application>
  <PresentationFormat>宽屏</PresentationFormat>
  <Paragraphs>179</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宋体</vt:lpstr>
      <vt:lpstr>Wingdings</vt:lpstr>
      <vt:lpstr>微软雅黑</vt:lpstr>
      <vt:lpstr>Candara</vt:lpstr>
      <vt:lpstr>Arial Unicode MS</vt:lpstr>
      <vt:lpstr>等线</vt:lpstr>
      <vt:lpstr>Office 主题​​</vt:lpstr>
      <vt:lpstr>中期答辩</vt:lpstr>
      <vt:lpstr>主要议程</vt:lpstr>
      <vt:lpstr>实习情况</vt:lpstr>
      <vt:lpstr>企业介绍</vt:lpstr>
      <vt:lpstr>实习工作介绍</vt:lpstr>
      <vt:lpstr>论文进展情况 论文题目： 《基于微服务架构的数据交易系统设计与实现》</vt:lpstr>
      <vt:lpstr>《基于微服务架构的数据交易系统设计与实现》 选题背景</vt:lpstr>
      <vt:lpstr>《基于微服务架构的数据交易系统设计与实现》 课题内容</vt:lpstr>
      <vt:lpstr> 《基于微服务架构的数据交易系统设计与实现》 传统单体应用的困境</vt:lpstr>
      <vt:lpstr>《基于微服务架构的数据交易系统设计与实现》 技术难点</vt:lpstr>
      <vt:lpstr>技术难点-支付 传统单体架构下的支付实现方式</vt:lpstr>
      <vt:lpstr>技术难点-支付 单体支付模式的局限性</vt:lpstr>
      <vt:lpstr>技术难点-支付 支付微服务架构</vt:lpstr>
      <vt:lpstr>技术难点-支付 支付微服务的核心技术难点</vt:lpstr>
      <vt:lpstr>特色分析 </vt:lpstr>
      <vt:lpstr>实习收获</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教务处PPT模板001</dc:title>
  <dc:creator>现代教育技术中心</dc:creator>
  <cp:lastModifiedBy>Lenovo</cp:lastModifiedBy>
  <cp:revision>83</cp:revision>
  <dcterms:created xsi:type="dcterms:W3CDTF">2019-08-12T09:30:00Z</dcterms:created>
  <dcterms:modified xsi:type="dcterms:W3CDTF">2026-03-15T03:20:40Z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226B1DBCC8D94CF28AE54C1B2FF29A88_12</vt:lpwstr>
  </property>
</Properties>
</file>